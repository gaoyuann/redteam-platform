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1078992"/>
            <a:ext cx="667512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 i="0">
                <a:solidFill>
                  <a:srgbClr val="182D4C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1847088"/>
            <a:ext cx="51206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092C3"/>
                </a:solidFill>
                <a:latin typeface="Consolas"/>
              </a:rPr>
              <a:t>RedTeam-Platform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487168"/>
            <a:ext cx="571500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0" i="0">
                <a:solidFill>
                  <a:srgbClr val="5B6C84"/>
                </a:solidFill>
                <a:latin typeface="Microsoft YaHei"/>
              </a:rPr>
              <a:t>面向红队 / 渗透测试的智能化攻防演练平台
集成扫描、攻击、评估全流程，支持 AI 驱动的 Playbook 自动生成与执行。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3803904"/>
            <a:ext cx="914400" cy="256032"/>
          </a:xfrm>
          <a:prstGeom prst="roundRect">
            <a:avLst/>
          </a:prstGeom>
          <a:solidFill>
            <a:srgbClr val="0092C3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381304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0092C3"/>
                </a:solidFill>
                <a:latin typeface="Microsoft YaHei"/>
              </a:rPr>
              <a:t>SCAN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64792" y="3803904"/>
            <a:ext cx="1408176" cy="256032"/>
          </a:xfrm>
          <a:prstGeom prst="roundRect">
            <a:avLst/>
          </a:prstGeom>
          <a:solidFill>
            <a:srgbClr val="6754C4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64792" y="3813048"/>
            <a:ext cx="14081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6754C4"/>
                </a:solidFill>
                <a:latin typeface="Microsoft YaHei"/>
              </a:rPr>
              <a:t>AI PLAYBOOK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28416" y="3803904"/>
            <a:ext cx="1280160" cy="256032"/>
          </a:xfrm>
          <a:prstGeom prst="roundRect">
            <a:avLst/>
          </a:prstGeom>
          <a:solidFill>
            <a:srgbClr val="1C996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8416" y="3813048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1C996F"/>
                </a:solidFill>
                <a:latin typeface="Microsoft YaHei"/>
              </a:rPr>
              <a:t>CONTAINER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4956048"/>
            <a:ext cx="1965960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010912"/>
            <a:ext cx="84536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 i="0">
                <a:solidFill>
                  <a:srgbClr val="0092C3"/>
                </a:solidFill>
                <a:latin typeface="Consolas"/>
              </a:rPr>
              <a:t>45+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8594" y="5065776"/>
            <a:ext cx="9829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预置 Playbook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34640" y="4956048"/>
            <a:ext cx="1600200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62656" y="5010912"/>
            <a:ext cx="68808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 i="0">
                <a:solidFill>
                  <a:srgbClr val="6754C4"/>
                </a:solidFill>
                <a:latin typeface="Consolas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2726" y="5065776"/>
            <a:ext cx="8001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功能模块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90288" y="4956048"/>
            <a:ext cx="1600200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18303" y="5010912"/>
            <a:ext cx="68808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 i="0">
                <a:solidFill>
                  <a:srgbClr val="1C996F"/>
                </a:solidFill>
                <a:latin typeface="Consolas"/>
              </a:rPr>
              <a:t>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78373" y="5065776"/>
            <a:ext cx="8001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子功能</a:t>
            </a:r>
          </a:p>
        </p:txBody>
      </p:sp>
      <p:sp>
        <p:nvSpPr>
          <p:cNvPr id="60" name="Oval 59"/>
          <p:cNvSpPr/>
          <p:nvPr/>
        </p:nvSpPr>
        <p:spPr>
          <a:xfrm>
            <a:off x="7726680" y="1609343"/>
            <a:ext cx="2926080" cy="2926080"/>
          </a:xfrm>
          <a:prstGeom prst="ellipse">
            <a:avLst/>
          </a:prstGeom>
          <a:solidFill>
            <a:srgbClr val="F7FAFD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001000" y="1883663"/>
            <a:ext cx="2377440" cy="2377440"/>
          </a:xfrm>
          <a:prstGeom prst="ellipse">
            <a:avLst/>
          </a:prstGeom>
          <a:solidFill>
            <a:srgbClr val="F7FAFD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275320" y="2157984"/>
            <a:ext cx="1828800" cy="1828800"/>
          </a:xfrm>
          <a:prstGeom prst="ellipse">
            <a:avLst/>
          </a:prstGeom>
          <a:solidFill>
            <a:srgbClr val="F7FAFD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567928" y="2450591"/>
            <a:ext cx="1243584" cy="1243584"/>
          </a:xfrm>
          <a:prstGeom prst="ellipse">
            <a:avLst/>
          </a:prstGeom>
          <a:solidFill>
            <a:srgbClr val="F7FAFD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808975" y="1993392"/>
            <a:ext cx="2761489" cy="2276856"/>
          </a:xfrm>
          <a:prstGeom prst="line">
            <a:avLst/>
          </a:prstGeom>
          <a:ln w="10160">
            <a:solidFill>
              <a:srgbClr val="675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982712" y="1956816"/>
            <a:ext cx="2350008" cy="2359152"/>
          </a:xfrm>
          <a:prstGeom prst="line">
            <a:avLst/>
          </a:prstGeom>
          <a:ln w="10160">
            <a:solidFill>
              <a:srgbClr val="675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406640" y="3063240"/>
            <a:ext cx="3529584" cy="0"/>
          </a:xfrm>
          <a:prstGeom prst="line">
            <a:avLst/>
          </a:prstGeom>
          <a:ln w="10160">
            <a:solidFill>
              <a:srgbClr val="675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7763256" y="1856232"/>
            <a:ext cx="164592" cy="164592"/>
          </a:xfrm>
          <a:prstGeom prst="ellipse">
            <a:avLst/>
          </a:prstGeom>
          <a:solidFill>
            <a:srgbClr val="0092C3"/>
          </a:solidFill>
          <a:ln w="762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16368" y="2075688"/>
            <a:ext cx="65836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1" i="0">
                <a:solidFill>
                  <a:srgbClr val="0092C3"/>
                </a:solidFill>
                <a:latin typeface="Consolas"/>
              </a:rPr>
              <a:t>DISCOVER</a:t>
            </a:r>
          </a:p>
        </p:txBody>
      </p:sp>
      <p:sp>
        <p:nvSpPr>
          <p:cNvPr id="69" name="Oval 68"/>
          <p:cNvSpPr/>
          <p:nvPr/>
        </p:nvSpPr>
        <p:spPr>
          <a:xfrm>
            <a:off x="10451592" y="4133088"/>
            <a:ext cx="164592" cy="164592"/>
          </a:xfrm>
          <a:prstGeom prst="ellipse">
            <a:avLst/>
          </a:prstGeom>
          <a:solidFill>
            <a:srgbClr val="D2485B"/>
          </a:solidFill>
          <a:ln w="762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04704" y="4352544"/>
            <a:ext cx="65836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1" i="0">
                <a:solidFill>
                  <a:srgbClr val="D2485B"/>
                </a:solidFill>
                <a:latin typeface="Consolas"/>
              </a:rPr>
              <a:t>EXPLOIT</a:t>
            </a:r>
          </a:p>
        </p:txBody>
      </p:sp>
      <p:sp>
        <p:nvSpPr>
          <p:cNvPr id="71" name="Oval 70"/>
          <p:cNvSpPr/>
          <p:nvPr/>
        </p:nvSpPr>
        <p:spPr>
          <a:xfrm>
            <a:off x="10213848" y="1819656"/>
            <a:ext cx="164592" cy="164592"/>
          </a:xfrm>
          <a:prstGeom prst="ellipse">
            <a:avLst/>
          </a:prstGeom>
          <a:solidFill>
            <a:srgbClr val="1C996F"/>
          </a:solidFill>
          <a:ln w="762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66960" y="2039112"/>
            <a:ext cx="65836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1" i="0">
                <a:solidFill>
                  <a:srgbClr val="1C996F"/>
                </a:solidFill>
                <a:latin typeface="Consolas"/>
              </a:rPr>
              <a:t>ASSESS</a:t>
            </a:r>
          </a:p>
        </p:txBody>
      </p:sp>
      <p:sp>
        <p:nvSpPr>
          <p:cNvPr id="73" name="Oval 72"/>
          <p:cNvSpPr/>
          <p:nvPr/>
        </p:nvSpPr>
        <p:spPr>
          <a:xfrm>
            <a:off x="7324344" y="2916936"/>
            <a:ext cx="164592" cy="164592"/>
          </a:xfrm>
          <a:prstGeom prst="ellipse">
            <a:avLst/>
          </a:prstGeom>
          <a:solidFill>
            <a:srgbClr val="C8840F"/>
          </a:solidFill>
          <a:ln w="762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77455" y="3136391"/>
            <a:ext cx="65836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1" i="0">
                <a:solidFill>
                  <a:srgbClr val="C8840F"/>
                </a:solidFill>
                <a:latin typeface="Consolas"/>
              </a:rPr>
              <a:t>TARGET</a:t>
            </a:r>
          </a:p>
        </p:txBody>
      </p:sp>
      <p:sp>
        <p:nvSpPr>
          <p:cNvPr id="75" name="Hexagon 74"/>
          <p:cNvSpPr/>
          <p:nvPr/>
        </p:nvSpPr>
        <p:spPr>
          <a:xfrm>
            <a:off x="8577072" y="2377440"/>
            <a:ext cx="1225296" cy="1389888"/>
          </a:xfrm>
          <a:prstGeom prst="hexagon">
            <a:avLst/>
          </a:prstGeom>
          <a:solidFill>
            <a:srgbClr val="0092C3"/>
          </a:solidFill>
          <a:ln w="1905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Hexagon 75"/>
          <p:cNvSpPr/>
          <p:nvPr/>
        </p:nvSpPr>
        <p:spPr>
          <a:xfrm>
            <a:off x="8659368" y="2468880"/>
            <a:ext cx="1060704" cy="1207008"/>
          </a:xfrm>
          <a:prstGeom prst="hexagon">
            <a:avLst/>
          </a:prstGeom>
          <a:solidFill>
            <a:srgbClr val="F7FAFD"/>
          </a:solidFill>
          <a:ln w="1270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8969166" y="3155777"/>
            <a:ext cx="196048" cy="208483"/>
          </a:xfrm>
          <a:prstGeom prst="line">
            <a:avLst/>
          </a:prstGeom>
          <a:ln w="19050">
            <a:solidFill>
              <a:srgbClr val="009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165214" y="2919496"/>
            <a:ext cx="318577" cy="444764"/>
          </a:xfrm>
          <a:prstGeom prst="line">
            <a:avLst/>
          </a:prstGeom>
          <a:ln w="19050">
            <a:solidFill>
              <a:srgbClr val="009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695944" y="2770632"/>
            <a:ext cx="9875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82D4C"/>
                </a:solidFill>
                <a:latin typeface="Consolas"/>
              </a:rPr>
              <a:t>RED
TEAM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96528" y="6263640"/>
            <a:ext cx="2706624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PROJECT BRIEF  ·  PLATFORM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01 / POSITIONING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平台定位：把红队能力沉淀为可执行工作流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02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53312"/>
            <a:ext cx="6583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面向红队 / 渗透测试的智能化攻防演练平台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828800"/>
            <a:ext cx="4919472" cy="382219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210312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182D4C"/>
                </a:solidFill>
                <a:latin typeface="Microsoft YaHei"/>
              </a:rPr>
              <a:t>我们解决什么问题？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" y="2542032"/>
            <a:ext cx="402336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5B6C84"/>
                </a:solidFill>
                <a:latin typeface="Microsoft YaHei"/>
              </a:rPr>
              <a:t>将目标发现、攻击验证、影响评估
统一到一个可观测、可复用的演练闭环中。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" y="3401568"/>
            <a:ext cx="3017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ONE PLATFORM  ·  ONE LOOP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2688" y="3822191"/>
            <a:ext cx="896112" cy="256032"/>
          </a:xfrm>
          <a:prstGeom prst="roundRect">
            <a:avLst/>
          </a:prstGeom>
          <a:solidFill>
            <a:srgbClr val="0092C3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" y="3831335"/>
            <a:ext cx="89611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0092C3"/>
                </a:solidFill>
                <a:latin typeface="Microsoft YaHei"/>
              </a:rPr>
              <a:t>SCAN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892808" y="3877056"/>
            <a:ext cx="210312" cy="128016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002536" y="3822191"/>
            <a:ext cx="1078992" cy="256032"/>
          </a:xfrm>
          <a:prstGeom prst="roundRect">
            <a:avLst/>
          </a:prstGeom>
          <a:solidFill>
            <a:srgbClr val="6754C4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02536" y="3831335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6754C4"/>
                </a:solidFill>
                <a:latin typeface="Microsoft YaHei"/>
              </a:rPr>
              <a:t>PLAYBOOK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3145536" y="3877056"/>
            <a:ext cx="210312" cy="128016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072384" y="3822191"/>
            <a:ext cx="896112" cy="256032"/>
          </a:xfrm>
          <a:prstGeom prst="roundRect">
            <a:avLst/>
          </a:prstGeom>
          <a:solidFill>
            <a:srgbClr val="D2485B"/>
          </a:solidFill>
          <a:ln w="889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72384" y="3831335"/>
            <a:ext cx="89611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D2485B"/>
                </a:solidFill>
                <a:latin typeface="Microsoft YaHei"/>
              </a:rPr>
              <a:t>ATTACK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4032504" y="3877056"/>
            <a:ext cx="210312" cy="128016"/>
          </a:xfrm>
          <a:prstGeom prst="rightArrow">
            <a:avLst/>
          </a:prstGeom>
          <a:solidFill>
            <a:srgbClr val="D2485B"/>
          </a:solidFill>
          <a:ln w="127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142231" y="3822191"/>
            <a:ext cx="896112" cy="256032"/>
          </a:xfrm>
          <a:prstGeom prst="roundRect">
            <a:avLst/>
          </a:prstGeom>
          <a:solidFill>
            <a:srgbClr val="1C996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1" y="3831335"/>
            <a:ext cx="89611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C996F"/>
                </a:solidFill>
                <a:latin typeface="Microsoft YaHei"/>
              </a:rPr>
              <a:t>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" y="4754880"/>
            <a:ext cx="416966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82D4C"/>
                </a:solidFill>
                <a:latin typeface="Microsoft YaHei"/>
              </a:rPr>
              <a:t>结果：一次演练的发现与证据，可直接复用为下一次剧本。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89320" y="1828800"/>
            <a:ext cx="2148840" cy="15179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153912" y="2029968"/>
            <a:ext cx="310896" cy="310896"/>
          </a:xfrm>
          <a:prstGeom prst="ellipse">
            <a:avLst/>
          </a:prstGeom>
          <a:solidFill>
            <a:srgbClr val="0092C3"/>
          </a:solidFill>
          <a:ln w="635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92824" y="1993392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统一入口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53912" y="2487168"/>
            <a:ext cx="1764792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任务、目标、结果与报告集中管理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66760" y="1828800"/>
            <a:ext cx="2148840" cy="15179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531352" y="2029968"/>
            <a:ext cx="310896" cy="310896"/>
          </a:xfrm>
          <a:prstGeom prst="ellipse">
            <a:avLst/>
          </a:prstGeom>
          <a:solidFill>
            <a:srgbClr val="6754C4"/>
          </a:solidFill>
          <a:ln w="635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70264" y="1993392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智能编排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31352" y="2487168"/>
            <a:ext cx="1764792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LLM 基于扫描结果推荐攻击路径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89320" y="3822191"/>
            <a:ext cx="2148840" cy="15179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153912" y="4023359"/>
            <a:ext cx="310896" cy="310896"/>
          </a:xfrm>
          <a:prstGeom prst="ellipse">
            <a:avLst/>
          </a:prstGeom>
          <a:solidFill>
            <a:srgbClr val="1C996F"/>
          </a:solidFill>
          <a:ln w="635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92824" y="3986783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安全执行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53912" y="4480559"/>
            <a:ext cx="1764792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Docker / Podman 隔离运行工具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366760" y="3822191"/>
            <a:ext cx="2148840" cy="15179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31352" y="4023359"/>
            <a:ext cx="310896" cy="310896"/>
          </a:xfrm>
          <a:prstGeom prst="ellipse">
            <a:avLst/>
          </a:prstGeom>
          <a:solidFill>
            <a:srgbClr val="C8840F"/>
          </a:solidFill>
          <a:ln w="635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70264" y="3986783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结果沉淀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31352" y="4480559"/>
            <a:ext cx="1764792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Playbook、知识图谱与报告资产化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89320" y="5632704"/>
            <a:ext cx="4526280" cy="384048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44768" y="5705856"/>
            <a:ext cx="422452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0092C3"/>
                </a:solidFill>
                <a:latin typeface="Microsoft YaHei"/>
              </a:rPr>
              <a:t>可部署 · 可复用 · 可审计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02 /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四层架构：本地运行，能力可组合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03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69494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客户端、服务、数据与工具执行解耦，形成可控的单机闭环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9808" y="1810512"/>
            <a:ext cx="66294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" y="1965960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0092C3"/>
                </a:solidFill>
                <a:latin typeface="Consolas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" y="1920240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Consolas"/>
              </a:rPr>
              <a:t>Qt 5.15.3 / C++17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2231136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原生桌面前端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48072" y="2066543"/>
            <a:ext cx="1792224" cy="256032"/>
          </a:xfrm>
          <a:prstGeom prst="roundRect">
            <a:avLst/>
          </a:prstGeom>
          <a:solidFill>
            <a:srgbClr val="0092C3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48072" y="2075687"/>
            <a:ext cx="179222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0092C3"/>
                </a:solidFill>
                <a:latin typeface="Microsoft YaHei"/>
              </a:rPr>
              <a:t>CMake · AppImage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3493008" y="2642616"/>
            <a:ext cx="512064" cy="164592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49808" y="2834640"/>
            <a:ext cx="6629400" cy="786384"/>
          </a:xfrm>
          <a:prstGeom prst="roundRect">
            <a:avLst/>
          </a:prstGeom>
          <a:solidFill>
            <a:srgbClr val="EFF6FC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" y="299008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6754C4"/>
                </a:solidFill>
                <a:latin typeface="Consolas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2944368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Consolas"/>
              </a:rPr>
              <a:t>Node.js Runtime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3255264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本地 API 与任务编排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48072" y="3090672"/>
            <a:ext cx="1792224" cy="256032"/>
          </a:xfrm>
          <a:prstGeom prst="roundRect">
            <a:avLst/>
          </a:prstGeom>
          <a:solidFill>
            <a:srgbClr val="6754C4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48072" y="3099815"/>
            <a:ext cx="179222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6754C4"/>
                </a:solidFill>
                <a:latin typeface="Microsoft YaHei"/>
              </a:rPr>
              <a:t>localhost · WebSocket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3493008" y="3666744"/>
            <a:ext cx="512064" cy="164592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49808" y="3858768"/>
            <a:ext cx="66294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" y="401421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C996F"/>
                </a:solidFill>
                <a:latin typeface="Consolas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3968496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Consolas"/>
              </a:rPr>
              <a:t>SQLite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54480" y="4279392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单文件数据与知识资产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48072" y="4114800"/>
            <a:ext cx="1792224" cy="256032"/>
          </a:xfrm>
          <a:prstGeom prst="roundRect">
            <a:avLst/>
          </a:prstGeom>
          <a:solidFill>
            <a:srgbClr val="1C996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48072" y="4123944"/>
            <a:ext cx="179222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C996F"/>
                </a:solidFill>
                <a:latin typeface="Microsoft YaHei"/>
              </a:rPr>
              <a:t>随软件分发 · 易备份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3493008" y="4690872"/>
            <a:ext cx="512064" cy="164592"/>
          </a:xfrm>
          <a:prstGeom prst="rightArrow">
            <a:avLst/>
          </a:prstGeom>
          <a:solidFill>
            <a:srgbClr val="1C996F"/>
          </a:solidFill>
          <a:ln w="127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49808" y="4882896"/>
            <a:ext cx="6629400" cy="786384"/>
          </a:xfrm>
          <a:prstGeom prst="roundRect">
            <a:avLst/>
          </a:prstGeom>
          <a:solidFill>
            <a:srgbClr val="EFF6FC"/>
          </a:solidFill>
          <a:ln w="1016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1832" y="5038344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C8840F"/>
                </a:solidFill>
                <a:latin typeface="Consolas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54480" y="4992624"/>
            <a:ext cx="2560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82D4C"/>
                </a:solidFill>
                <a:latin typeface="Consolas"/>
              </a:rPr>
              <a:t>Podman / Docker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54480" y="5303520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工具隔离与执行引擎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148072" y="5138928"/>
            <a:ext cx="1792224" cy="256032"/>
          </a:xfrm>
          <a:prstGeom prst="roundRect">
            <a:avLst/>
          </a:prstGeom>
          <a:solidFill>
            <a:srgbClr val="C8840F"/>
          </a:solidFill>
          <a:ln w="889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48072" y="5148072"/>
            <a:ext cx="179222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C8840F"/>
                </a:solidFill>
                <a:latin typeface="Microsoft YaHei"/>
              </a:rPr>
              <a:t>镜像离线打包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90688" y="1856231"/>
            <a:ext cx="3401568" cy="9418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28431" y="2057400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0092C3"/>
                </a:solidFill>
                <a:latin typeface="Consolas"/>
              </a:rPr>
              <a:t>LOCAL-FIRST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28431" y="2368296"/>
            <a:ext cx="265176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82D4C"/>
                </a:solidFill>
                <a:latin typeface="Microsoft YaHei"/>
              </a:rPr>
              <a:t>后端绑定 localhost，数据不出机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90688" y="3054096"/>
            <a:ext cx="3401568" cy="9418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28431" y="3255264"/>
            <a:ext cx="17373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6754C4"/>
                </a:solidFill>
                <a:latin typeface="Consolas"/>
              </a:rPr>
              <a:t>EVENT-DRIVEN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28431" y="3566160"/>
            <a:ext cx="281635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82D4C"/>
                </a:solidFill>
                <a:latin typeface="Microsoft YaHei"/>
              </a:rPr>
              <a:t>WebSocket 推送扫描与执行状态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90688" y="4251960"/>
            <a:ext cx="3401568" cy="9418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28431" y="4453128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C996F"/>
                </a:solidFill>
                <a:latin typeface="Consolas"/>
              </a:rPr>
              <a:t>RBAC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28431" y="4764024"/>
            <a:ext cx="2788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82D4C"/>
                </a:solidFill>
                <a:latin typeface="Microsoft YaHei"/>
              </a:rPr>
              <a:t>admin / teacher / student 多角色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02752" y="566928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5B6C84"/>
                </a:solidFill>
                <a:latin typeface="Consolas"/>
              </a:rPr>
              <a:t>数据流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8979408" y="5760720"/>
            <a:ext cx="1847088" cy="0"/>
          </a:xfrm>
          <a:prstGeom prst="line">
            <a:avLst/>
          </a:prstGeom>
          <a:ln w="13970">
            <a:solidFill>
              <a:srgbClr val="009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8897112" y="5696712"/>
            <a:ext cx="128016" cy="128016"/>
          </a:xfrm>
          <a:prstGeom prst="ellipse">
            <a:avLst/>
          </a:prstGeom>
          <a:solidFill>
            <a:srgbClr val="0092C3"/>
          </a:solidFill>
          <a:ln w="508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59952" y="5916168"/>
            <a:ext cx="402336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0092C3"/>
                </a:solidFill>
                <a:latin typeface="Consolas"/>
              </a:rPr>
              <a:t>UI</a:t>
            </a:r>
          </a:p>
        </p:txBody>
      </p:sp>
      <p:sp>
        <p:nvSpPr>
          <p:cNvPr id="88" name="Oval 87"/>
          <p:cNvSpPr/>
          <p:nvPr/>
        </p:nvSpPr>
        <p:spPr>
          <a:xfrm>
            <a:off x="9537192" y="5696712"/>
            <a:ext cx="128016" cy="128016"/>
          </a:xfrm>
          <a:prstGeom prst="ellipse">
            <a:avLst/>
          </a:prstGeom>
          <a:solidFill>
            <a:srgbClr val="6754C4"/>
          </a:solidFill>
          <a:ln w="508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00032" y="5916168"/>
            <a:ext cx="402336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6754C4"/>
                </a:solidFill>
                <a:latin typeface="Consolas"/>
              </a:rPr>
              <a:t>API</a:t>
            </a:r>
          </a:p>
        </p:txBody>
      </p:sp>
      <p:sp>
        <p:nvSpPr>
          <p:cNvPr id="90" name="Oval 89"/>
          <p:cNvSpPr/>
          <p:nvPr/>
        </p:nvSpPr>
        <p:spPr>
          <a:xfrm>
            <a:off x="10158984" y="5696712"/>
            <a:ext cx="128016" cy="128016"/>
          </a:xfrm>
          <a:prstGeom prst="ellipse">
            <a:avLst/>
          </a:prstGeom>
          <a:solidFill>
            <a:srgbClr val="1C996F"/>
          </a:solidFill>
          <a:ln w="508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21824" y="5916168"/>
            <a:ext cx="402336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1C996F"/>
                </a:solidFill>
                <a:latin typeface="Consolas"/>
              </a:rPr>
              <a:t>DB</a:t>
            </a:r>
          </a:p>
        </p:txBody>
      </p:sp>
      <p:sp>
        <p:nvSpPr>
          <p:cNvPr id="92" name="Oval 91"/>
          <p:cNvSpPr/>
          <p:nvPr/>
        </p:nvSpPr>
        <p:spPr>
          <a:xfrm>
            <a:off x="10762488" y="5696712"/>
            <a:ext cx="128016" cy="128016"/>
          </a:xfrm>
          <a:prstGeom prst="ellipse">
            <a:avLst/>
          </a:prstGeom>
          <a:solidFill>
            <a:srgbClr val="C8840F"/>
          </a:solidFill>
          <a:ln w="508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25328" y="5916168"/>
            <a:ext cx="402336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0" i="0">
                <a:solidFill>
                  <a:srgbClr val="C8840F"/>
                </a:solidFill>
                <a:latin typeface="Consolas"/>
              </a:rPr>
              <a:t>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03 / WORKFLOW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核心工作流：从发现到评估的智能闭环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04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每一步都有结果沉淀，下一步由数据驱动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2121408"/>
            <a:ext cx="1755648" cy="1408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4672" y="2304288"/>
            <a:ext cx="310896" cy="310896"/>
          </a:xfrm>
          <a:prstGeom prst="ellipse">
            <a:avLst/>
          </a:prstGeom>
          <a:solidFill>
            <a:srgbClr val="0092C3"/>
          </a:solidFill>
          <a:ln w="635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235000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19" y="228600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扫描目标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59" y="2816352"/>
            <a:ext cx="13716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资产 / 端口 / 漏洞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2468880" y="2706624"/>
            <a:ext cx="384048" cy="201168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880360" y="2121408"/>
            <a:ext cx="1755648" cy="1408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26664" y="2304288"/>
            <a:ext cx="310896" cy="310896"/>
          </a:xfrm>
          <a:prstGeom prst="ellipse">
            <a:avLst/>
          </a:prstGeom>
          <a:solidFill>
            <a:srgbClr val="2D6CDF"/>
          </a:solidFill>
          <a:ln w="635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26664" y="235000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10712" y="228600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展示结果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44952" y="2816352"/>
            <a:ext cx="13716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结构化发现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4690872" y="2706624"/>
            <a:ext cx="384048" cy="201168"/>
          </a:xfrm>
          <a:prstGeom prst="rightArrow">
            <a:avLst/>
          </a:prstGeom>
          <a:solidFill>
            <a:srgbClr val="2D6CDF"/>
          </a:solidFill>
          <a:ln w="127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102352" y="2121408"/>
            <a:ext cx="1755648" cy="1408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248656" y="2304288"/>
            <a:ext cx="310896" cy="310896"/>
          </a:xfrm>
          <a:prstGeom prst="ellipse">
            <a:avLst/>
          </a:prstGeom>
          <a:solidFill>
            <a:srgbClr val="6754C4"/>
          </a:solidFill>
          <a:ln w="635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48656" y="235000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2704" y="228600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AI 生成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6944" y="2816352"/>
            <a:ext cx="13716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匹配 Playbook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6912864" y="2706624"/>
            <a:ext cx="384048" cy="201168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324344" y="2121408"/>
            <a:ext cx="1755648" cy="1408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70648" y="2304288"/>
            <a:ext cx="310896" cy="310896"/>
          </a:xfrm>
          <a:prstGeom prst="ellipse">
            <a:avLst/>
          </a:prstGeom>
          <a:solidFill>
            <a:srgbClr val="D2485B"/>
          </a:solidFill>
          <a:ln w="635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70648" y="235000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54696" y="228600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攻击测试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88936" y="2816352"/>
            <a:ext cx="13716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脚本化执行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9134856" y="2706624"/>
            <a:ext cx="384048" cy="201168"/>
          </a:xfrm>
          <a:prstGeom prst="rightArrow">
            <a:avLst/>
          </a:prstGeom>
          <a:solidFill>
            <a:srgbClr val="D2485B"/>
          </a:solidFill>
          <a:ln w="127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546336" y="2121408"/>
            <a:ext cx="1755648" cy="14081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692640" y="2304288"/>
            <a:ext cx="310896" cy="310896"/>
          </a:xfrm>
          <a:prstGeom prst="ellipse">
            <a:avLst/>
          </a:prstGeom>
          <a:solidFill>
            <a:srgbClr val="1C996F"/>
          </a:solidFill>
          <a:ln w="635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92640" y="235000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76688" y="228600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评估报告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10928" y="2816352"/>
            <a:ext cx="13716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评分 / 证据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4151376"/>
            <a:ext cx="11430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0092C3"/>
                </a:solidFill>
                <a:latin typeface="Consolas"/>
              </a:rPr>
              <a:t>典型数据流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58368" y="4526280"/>
            <a:ext cx="2286000" cy="987552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8680" y="4700016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5B6C84"/>
                </a:solidFill>
                <a:latin typeface="Microsoft YaHei"/>
              </a:rPr>
              <a:t>发现结果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5001768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182D4C"/>
                </a:solidFill>
                <a:latin typeface="Consolas"/>
              </a:rPr>
              <a:t>443/tcp   ·   SQLi   ·   admin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3127248" y="4828032"/>
            <a:ext cx="566928" cy="219456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877056" y="4526280"/>
            <a:ext cx="2322576" cy="987552"/>
          </a:xfrm>
          <a:prstGeom prst="roundRect">
            <a:avLst/>
          </a:prstGeom>
          <a:solidFill>
            <a:srgbClr val="EFF6FC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14800" y="470001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6754C4"/>
                </a:solidFill>
                <a:latin typeface="Microsoft YaHei"/>
              </a:rPr>
              <a:t>AI 决策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0" y="5001768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182D4C"/>
                </a:solidFill>
                <a:latin typeface="Consolas"/>
              </a:rPr>
              <a:t>目标 + 证据 + 约束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6400800" y="4828032"/>
            <a:ext cx="566928" cy="219456"/>
          </a:xfrm>
          <a:prstGeom prst="rightArrow">
            <a:avLst/>
          </a:prstGeom>
          <a:solidFill>
            <a:srgbClr val="D2485B"/>
          </a:solidFill>
          <a:ln w="127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150608" y="4526280"/>
            <a:ext cx="2322576" cy="987552"/>
          </a:xfrm>
          <a:prstGeom prst="roundRect">
            <a:avLst/>
          </a:prstGeom>
          <a:solidFill>
            <a:srgbClr val="EFF6FC"/>
          </a:solidFill>
          <a:ln w="1016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88352" y="470001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D2485B"/>
                </a:solidFill>
                <a:latin typeface="Microsoft YaHei"/>
              </a:rPr>
              <a:t>Playbook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8352" y="5001768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182D4C"/>
                </a:solidFill>
                <a:latin typeface="Consolas"/>
              </a:rPr>
              <a:t>recon → exploit → verify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9528048" y="4828032"/>
            <a:ext cx="566928" cy="219456"/>
          </a:xfrm>
          <a:prstGeom prst="rightArrow">
            <a:avLst/>
          </a:prstGeom>
          <a:solidFill>
            <a:srgbClr val="1C996F"/>
          </a:solidFill>
          <a:ln w="127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277856" y="4526280"/>
            <a:ext cx="1225296" cy="987552"/>
          </a:xfrm>
          <a:prstGeom prst="roundRect">
            <a:avLst/>
          </a:prstGeom>
          <a:solidFill>
            <a:srgbClr val="EFF6FC"/>
          </a:solidFill>
          <a:ln w="1016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42448" y="4754880"/>
            <a:ext cx="87782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C996F"/>
                </a:solidFill>
                <a:latin typeface="Consolas"/>
              </a:rPr>
              <a:t>REPORT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42448" y="5010912"/>
            <a:ext cx="87782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 i="0">
                <a:solidFill>
                  <a:srgbClr val="182D4C"/>
                </a:solidFill>
                <a:latin typeface="Microsoft YaHei"/>
              </a:rPr>
              <a:t>证据
评分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04 / CAPABILITIES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7 大功能模块，覆盖 28 个子功能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05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从资源部署到知识沉淀，统一纳入任务、权限与审计体系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874519"/>
            <a:ext cx="2331720" cy="14996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2959" y="2039112"/>
            <a:ext cx="384048" cy="384048"/>
          </a:xfrm>
          <a:prstGeom prst="ellipse">
            <a:avLst/>
          </a:prstGeom>
          <a:solidFill>
            <a:srgbClr val="0092C3"/>
          </a:solidFill>
          <a:ln w="635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59" y="2130552"/>
            <a:ext cx="384048" cy="137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35024" y="203911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资源部署配置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7" y="2587752"/>
            <a:ext cx="196596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HEXSTRIKE · 沙箱 · LLM · 靶场 · 工具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584448" y="1874519"/>
            <a:ext cx="2331720" cy="14996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749039" y="2039112"/>
            <a:ext cx="384048" cy="384048"/>
          </a:xfrm>
          <a:prstGeom prst="ellipse">
            <a:avLst/>
          </a:prstGeom>
          <a:solidFill>
            <a:srgbClr val="6754C4"/>
          </a:solidFill>
          <a:ln w="635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39" y="2130552"/>
            <a:ext cx="384048" cy="137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61104" y="203911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漏洞利用想定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67328" y="2587752"/>
            <a:ext cx="196596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Playbook · 脚本 · 执行引擎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10528" y="1874519"/>
            <a:ext cx="2331720" cy="14996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675120" y="2039112"/>
            <a:ext cx="384048" cy="384048"/>
          </a:xfrm>
          <a:prstGeom prst="ellipse">
            <a:avLst/>
          </a:prstGeom>
          <a:solidFill>
            <a:srgbClr val="2D6CDF"/>
          </a:solidFill>
          <a:ln w="635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130552"/>
            <a:ext cx="384048" cy="137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87184" y="203911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网络拓扑探测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93408" y="2587752"/>
            <a:ext cx="196596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探测 · 编辑 · 展示 · 信息标注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36608" y="1874519"/>
            <a:ext cx="2331720" cy="14996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601200" y="2039112"/>
            <a:ext cx="384048" cy="384048"/>
          </a:xfrm>
          <a:prstGeom prst="ellipse">
            <a:avLst/>
          </a:prstGeom>
          <a:solidFill>
            <a:srgbClr val="C8840F"/>
          </a:solidFill>
          <a:ln w="635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2130552"/>
            <a:ext cx="384048" cy="137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3264" y="203911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脆弱性扫描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19488" y="2587752"/>
            <a:ext cx="196596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nuclei · sqlmap · nmap · hydra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121408" y="3959352"/>
            <a:ext cx="2331720" cy="14996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286000" y="4123944"/>
            <a:ext cx="384048" cy="384048"/>
          </a:xfrm>
          <a:prstGeom prst="ellipse">
            <a:avLst/>
          </a:prstGeom>
          <a:solidFill>
            <a:srgbClr val="D2485B"/>
          </a:solidFill>
          <a:ln w="635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0" y="4215384"/>
            <a:ext cx="384048" cy="137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98063" y="4123944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漏洞攻击测试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04288" y="4672584"/>
            <a:ext cx="196596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窃取 · 篡改 · 夺控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47488" y="3959352"/>
            <a:ext cx="2331720" cy="14996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212079" y="4123944"/>
            <a:ext cx="384048" cy="384048"/>
          </a:xfrm>
          <a:prstGeom prst="ellipse">
            <a:avLst/>
          </a:prstGeom>
          <a:solidFill>
            <a:srgbClr val="1C996F"/>
          </a:solidFill>
          <a:ln w="635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12079" y="4215384"/>
            <a:ext cx="384048" cy="137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24144" y="4123944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测试评估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30368" y="4672584"/>
            <a:ext cx="196596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流量捕获 · 数据分析评分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73568" y="3959352"/>
            <a:ext cx="2331720" cy="14996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38160" y="4123944"/>
            <a:ext cx="384048" cy="384048"/>
          </a:xfrm>
          <a:prstGeom prst="ellipse">
            <a:avLst/>
          </a:prstGeom>
          <a:solidFill>
            <a:srgbClr val="0092C3"/>
          </a:solidFill>
          <a:ln w="635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38160" y="4215384"/>
            <a:ext cx="384048" cy="137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07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50224" y="4123944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82D4C"/>
                </a:solidFill>
                <a:latin typeface="Microsoft YaHei"/>
              </a:rPr>
              <a:t>系统管理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56448" y="4672584"/>
            <a:ext cx="196596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任务 · 用户 · 权限 · 报告 · 知识图谱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58368" y="5870448"/>
            <a:ext cx="10917936" cy="347472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" y="5943600"/>
            <a:ext cx="105613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0092C3"/>
                </a:solidFill>
                <a:latin typeface="Microsoft YaHei"/>
              </a:rPr>
              <a:t>28 个子功能  ·  统一工作台  ·  角色化协同  ·  全程留痕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05 / 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脆弱性扫描 × 攻击测试：从发现到验证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06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四类扫描建立攻击面，三类测试验证业务影响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" y="1810512"/>
            <a:ext cx="5230368" cy="4233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2011680"/>
            <a:ext cx="18288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0092C3"/>
                </a:solidFill>
                <a:latin typeface="Consolas"/>
              </a:rPr>
              <a:t>SCAN ENGINES</a:t>
            </a:r>
          </a:p>
        </p:txBody>
      </p:sp>
      <p:sp>
        <p:nvSpPr>
          <p:cNvPr id="50" name="Oval 49"/>
          <p:cNvSpPr/>
          <p:nvPr/>
        </p:nvSpPr>
        <p:spPr>
          <a:xfrm>
            <a:off x="914400" y="2523744"/>
            <a:ext cx="347472" cy="347472"/>
          </a:xfrm>
          <a:prstGeom prst="ellipse">
            <a:avLst/>
          </a:prstGeom>
          <a:solidFill>
            <a:srgbClr val="0092C3"/>
          </a:solidFill>
          <a:ln w="508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2615184"/>
            <a:ext cx="347472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NU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44752" y="2532887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Consolas"/>
              </a:rPr>
              <a:t>NUCLEI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15184" y="2532887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系统漏洞模板扫描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70832" y="2542032"/>
            <a:ext cx="1078992" cy="256032"/>
          </a:xfrm>
          <a:prstGeom prst="roundRect">
            <a:avLst/>
          </a:prstGeom>
          <a:solidFill>
            <a:srgbClr val="0092C3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70832" y="2551175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0092C3"/>
                </a:solidFill>
                <a:latin typeface="Microsoft YaHei"/>
              </a:rPr>
              <a:t>CVE / misconfig</a:t>
            </a:r>
          </a:p>
        </p:txBody>
      </p:sp>
      <p:sp>
        <p:nvSpPr>
          <p:cNvPr id="56" name="Oval 55"/>
          <p:cNvSpPr/>
          <p:nvPr/>
        </p:nvSpPr>
        <p:spPr>
          <a:xfrm>
            <a:off x="914400" y="3255263"/>
            <a:ext cx="347472" cy="347472"/>
          </a:xfrm>
          <a:prstGeom prst="ellipse">
            <a:avLst/>
          </a:prstGeom>
          <a:solidFill>
            <a:srgbClr val="6754C4"/>
          </a:solidFill>
          <a:ln w="508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3346703"/>
            <a:ext cx="347472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SQ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44752" y="3264407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Consolas"/>
              </a:rPr>
              <a:t>SQLMAP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15184" y="3264407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Web 注入验证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70832" y="3273551"/>
            <a:ext cx="1078992" cy="256032"/>
          </a:xfrm>
          <a:prstGeom prst="roundRect">
            <a:avLst/>
          </a:prstGeom>
          <a:solidFill>
            <a:srgbClr val="6754C4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0832" y="3282695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6754C4"/>
                </a:solidFill>
                <a:latin typeface="Microsoft YaHei"/>
              </a:rPr>
              <a:t>SQLi / 数据库</a:t>
            </a:r>
          </a:p>
        </p:txBody>
      </p:sp>
      <p:sp>
        <p:nvSpPr>
          <p:cNvPr id="62" name="Oval 61"/>
          <p:cNvSpPr/>
          <p:nvPr/>
        </p:nvSpPr>
        <p:spPr>
          <a:xfrm>
            <a:off x="914400" y="3986783"/>
            <a:ext cx="347472" cy="347472"/>
          </a:xfrm>
          <a:prstGeom prst="ellipse">
            <a:avLst/>
          </a:prstGeom>
          <a:solidFill>
            <a:srgbClr val="2D6CDF"/>
          </a:solidFill>
          <a:ln w="508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4078223"/>
            <a:ext cx="347472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NM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44752" y="3995927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Consolas"/>
              </a:rPr>
              <a:t>NMAP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15184" y="3995927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端口与服务识别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70832" y="4005071"/>
            <a:ext cx="1078992" cy="256032"/>
          </a:xfrm>
          <a:prstGeom prst="roundRect">
            <a:avLst/>
          </a:prstGeom>
          <a:solidFill>
            <a:srgbClr val="2D6CDF"/>
          </a:solidFill>
          <a:ln w="889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70832" y="4014215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2D6CDF"/>
                </a:solidFill>
                <a:latin typeface="Microsoft YaHei"/>
              </a:rPr>
              <a:t>asset / service</a:t>
            </a:r>
          </a:p>
        </p:txBody>
      </p:sp>
      <p:sp>
        <p:nvSpPr>
          <p:cNvPr id="68" name="Oval 67"/>
          <p:cNvSpPr/>
          <p:nvPr/>
        </p:nvSpPr>
        <p:spPr>
          <a:xfrm>
            <a:off x="914400" y="4718304"/>
            <a:ext cx="347472" cy="347472"/>
          </a:xfrm>
          <a:prstGeom prst="ellipse">
            <a:avLst/>
          </a:prstGeom>
          <a:solidFill>
            <a:srgbClr val="C8840F"/>
          </a:solidFill>
          <a:ln w="508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4809744"/>
            <a:ext cx="347472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HY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44752" y="4727448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Consolas"/>
              </a:rPr>
              <a:t>HYDRA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15184" y="4727448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弱口令检测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70832" y="4736592"/>
            <a:ext cx="1078992" cy="256032"/>
          </a:xfrm>
          <a:prstGeom prst="roundRect">
            <a:avLst/>
          </a:prstGeom>
          <a:solidFill>
            <a:srgbClr val="C8840F"/>
          </a:solidFill>
          <a:ln w="889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70832" y="4745736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C8840F"/>
                </a:solidFill>
                <a:latin typeface="Microsoft YaHei"/>
              </a:rPr>
              <a:t>credential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089904" y="1874519"/>
            <a:ext cx="0" cy="4114801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6355080" y="1810512"/>
            <a:ext cx="5230368" cy="4233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0256" y="2011680"/>
            <a:ext cx="18288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D2485B"/>
                </a:solidFill>
                <a:latin typeface="Consolas"/>
              </a:rPr>
              <a:t>ATTACK TESTS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620256" y="2523744"/>
            <a:ext cx="4407408" cy="731520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D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39712" y="2706624"/>
            <a:ext cx="40233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D2485B"/>
                </a:solidFill>
                <a:latin typeface="Consolas"/>
              </a:rPr>
              <a:t>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34072" y="2624327"/>
            <a:ext cx="1965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数据抵近窃取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34072" y="2926079"/>
            <a:ext cx="3072384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验证敏感数据可达性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20256" y="3493008"/>
            <a:ext cx="4407408" cy="731520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39712" y="3675887"/>
            <a:ext cx="40233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6754C4"/>
                </a:solidFill>
                <a:latin typeface="Consolas"/>
              </a:rPr>
              <a:t>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34072" y="3593591"/>
            <a:ext cx="1965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信息篡改欺骗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34072" y="3895344"/>
            <a:ext cx="3072384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验证完整性与业务影响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620256" y="4462272"/>
            <a:ext cx="4407408" cy="731520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39712" y="4645152"/>
            <a:ext cx="40233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C8840F"/>
                </a:solidFill>
                <a:latin typeface="Consolas"/>
              </a:rPr>
              <a:t>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34072" y="4562856"/>
            <a:ext cx="1965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关键设备夺控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34072" y="4864608"/>
            <a:ext cx="3072384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验证横向移动与控制面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20256" y="5577840"/>
            <a:ext cx="4407408" cy="292608"/>
          </a:xfrm>
          <a:prstGeom prst="roundRect">
            <a:avLst/>
          </a:prstGeom>
          <a:solidFill>
            <a:srgbClr val="F7FAFD"/>
          </a:solidFill>
          <a:ln w="635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29984" y="5632704"/>
            <a:ext cx="4169663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1C996F"/>
                </a:solidFill>
                <a:latin typeface="Consolas"/>
              </a:rPr>
              <a:t>发现 → 复现 → 证据 → 评分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06 / INTELLIGENCE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AI 驱动的智能 Playbook：让发现直接变成行动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07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8778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基于扫描证据、知识图谱与安全边界，自动组合可审计的攻击剧本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938528"/>
            <a:ext cx="2907792" cy="3419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2139696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0092C3"/>
                </a:solidFill>
                <a:latin typeface="Consolas"/>
              </a:rPr>
              <a:t>SCAN FINDINGS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2615184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5B6C84"/>
                </a:solidFill>
                <a:latin typeface="Consolas"/>
              </a:rPr>
              <a:t>ASSET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64208" y="2615184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182D4C"/>
                </a:solidFill>
                <a:latin typeface="Consolas"/>
              </a:rPr>
              <a:t>10.10.4.21 / web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96112" y="2889503"/>
            <a:ext cx="2340864" cy="0"/>
          </a:xfrm>
          <a:prstGeom prst="line">
            <a:avLst/>
          </a:prstGeom>
          <a:ln w="635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96112" y="31272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5B6C84"/>
                </a:solidFill>
                <a:latin typeface="Consolas"/>
              </a:rPr>
              <a:t>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64208" y="3127248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182D4C"/>
                </a:solidFill>
                <a:latin typeface="Consolas"/>
              </a:rPr>
              <a:t>443 / https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96112" y="3401568"/>
            <a:ext cx="2340864" cy="0"/>
          </a:xfrm>
          <a:prstGeom prst="line">
            <a:avLst/>
          </a:prstGeom>
          <a:ln w="635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96112" y="363931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5B6C84"/>
                </a:solidFill>
                <a:latin typeface="Consolas"/>
              </a:rPr>
              <a:t>VULN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64208" y="3639312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182D4C"/>
                </a:solidFill>
                <a:latin typeface="Consolas"/>
              </a:rPr>
              <a:t>CVE-2024-xxxx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96112" y="3913632"/>
            <a:ext cx="2340864" cy="0"/>
          </a:xfrm>
          <a:prstGeom prst="line">
            <a:avLst/>
          </a:prstGeom>
          <a:ln w="635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96112" y="4151376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5B6C84"/>
                </a:solidFill>
                <a:latin typeface="Consolas"/>
              </a:rPr>
              <a:t>CRED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4151376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182D4C"/>
                </a:solidFill>
                <a:latin typeface="Consolas"/>
              </a:rPr>
              <a:t>admin / weak pwd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96112" y="4425696"/>
            <a:ext cx="2340864" cy="0"/>
          </a:xfrm>
          <a:prstGeom prst="line">
            <a:avLst/>
          </a:prstGeom>
          <a:ln w="635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896112" y="4864608"/>
            <a:ext cx="1719072" cy="256032"/>
          </a:xfrm>
          <a:prstGeom prst="roundRect">
            <a:avLst/>
          </a:prstGeom>
          <a:solidFill>
            <a:srgbClr val="0092C3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112" y="487375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0092C3"/>
                </a:solidFill>
                <a:latin typeface="Microsoft YaHei"/>
              </a:rPr>
              <a:t>STRUCTURED EVIDENCE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3749039" y="3310128"/>
            <a:ext cx="621792" cy="256032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489704" y="2377440"/>
            <a:ext cx="1664208" cy="1664208"/>
          </a:xfrm>
          <a:prstGeom prst="ellipse">
            <a:avLst/>
          </a:prstGeom>
          <a:solidFill>
            <a:srgbClr val="6754C4"/>
          </a:solidFill>
          <a:ln w="1270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663440" y="2551176"/>
            <a:ext cx="1316736" cy="1316736"/>
          </a:xfrm>
          <a:prstGeom prst="ellipse">
            <a:avLst/>
          </a:prstGeom>
          <a:solidFill>
            <a:srgbClr val="F7FAFD"/>
          </a:solidFill>
          <a:ln w="1270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63440" y="2816352"/>
            <a:ext cx="1316736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 i="0">
                <a:solidFill>
                  <a:srgbClr val="6754C4"/>
                </a:solidFill>
                <a:latin typeface="Consolas"/>
              </a:rPr>
              <a:t>LLM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53712" y="4206240"/>
            <a:ext cx="15361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 i="0">
                <a:solidFill>
                  <a:srgbClr val="5B6C84"/>
                </a:solidFill>
                <a:latin typeface="Microsoft YaHei"/>
              </a:rPr>
              <a:t>匹配 · 规划 · 约束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15968" y="4709160"/>
            <a:ext cx="1993392" cy="256032"/>
          </a:xfrm>
          <a:prstGeom prst="roundRect">
            <a:avLst/>
          </a:prstGeom>
          <a:solidFill>
            <a:srgbClr val="6754C4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15968" y="4718304"/>
            <a:ext cx="19933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6754C4"/>
                </a:solidFill>
                <a:latin typeface="Microsoft YaHei"/>
              </a:rPr>
              <a:t>KNOWLEDGE GRAPH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6382512" y="3310128"/>
            <a:ext cx="621792" cy="256032"/>
          </a:xfrm>
          <a:prstGeom prst="rightArrow">
            <a:avLst/>
          </a:prstGeom>
          <a:solidFill>
            <a:srgbClr val="1C996F"/>
          </a:solidFill>
          <a:ln w="127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150608" y="1938528"/>
            <a:ext cx="4352544" cy="34198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2139696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C996F"/>
                </a:solidFill>
                <a:latin typeface="Consolas"/>
              </a:rPr>
              <a:t>GENERATED PLAYBOOK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06640" y="2505456"/>
            <a:ext cx="36118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82D4C"/>
                </a:solidFill>
                <a:latin typeface="Microsoft YaHei"/>
              </a:rPr>
              <a:t>Web foothold → credential reuse →
internal service pivot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4927" y="3291840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82127" y="3291840"/>
            <a:ext cx="290779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Consolas"/>
              </a:rPr>
              <a:t>recon_web_fingerprint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24927" y="3685032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6754C4"/>
                </a:solidFill>
                <a:latin typeface="Consolas"/>
              </a:rPr>
              <a:t>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82127" y="3685032"/>
            <a:ext cx="290779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Consolas"/>
              </a:rPr>
              <a:t>sqlmap_error_based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24927" y="4078224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C8840F"/>
                </a:solidFill>
                <a:latin typeface="Consolas"/>
              </a:rPr>
              <a:t>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82127" y="4078224"/>
            <a:ext cx="290779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Consolas"/>
              </a:rPr>
              <a:t>netexec_scan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24927" y="4471416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1C996F"/>
                </a:solidFill>
                <a:latin typeface="Consolas"/>
              </a:rPr>
              <a:t>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82127" y="4471416"/>
            <a:ext cx="290779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Consolas"/>
              </a:rPr>
              <a:t>evidence_and_score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406640" y="4846320"/>
            <a:ext cx="1920240" cy="256032"/>
          </a:xfrm>
          <a:prstGeom prst="roundRect">
            <a:avLst/>
          </a:prstGeom>
          <a:solidFill>
            <a:srgbClr val="1C996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06640" y="4855464"/>
            <a:ext cx="19202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C996F"/>
                </a:solidFill>
                <a:latin typeface="Microsoft YaHei"/>
              </a:rPr>
              <a:t>可审计 · 可复用 · 可回滚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07 / 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兼容性与容器化：在受限环境中稳定交付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08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Qt5 原生客户端 + 隔离工具链，兼顾兼容性、可迁移性与运维安全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874519"/>
            <a:ext cx="5138928" cy="32735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2121408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182D4C"/>
                </a:solidFill>
                <a:latin typeface="Microsoft YaHei"/>
              </a:rPr>
              <a:t>客户端与系统兼容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" y="2487168"/>
            <a:ext cx="24688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0092C3"/>
                </a:solidFill>
                <a:latin typeface="Consolas"/>
              </a:rPr>
              <a:t>Qt 5.15.3 + C++17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" y="2779776"/>
            <a:ext cx="31089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原生桌面体验，统一构建与分发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2688" y="3364992"/>
            <a:ext cx="1408176" cy="256032"/>
          </a:xfrm>
          <a:prstGeom prst="roundRect">
            <a:avLst/>
          </a:prstGeom>
          <a:solidFill>
            <a:srgbClr val="0092C3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" y="3374136"/>
            <a:ext cx="14081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0092C3"/>
                </a:solidFill>
                <a:latin typeface="Microsoft YaHei"/>
              </a:rPr>
              <a:t>银河麒麟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96896" y="3364992"/>
            <a:ext cx="1408176" cy="256032"/>
          </a:xfrm>
          <a:prstGeom prst="roundRect">
            <a:avLst/>
          </a:prstGeom>
          <a:solidFill>
            <a:srgbClr val="2D6CDF"/>
          </a:solidFill>
          <a:ln w="889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96896" y="3374136"/>
            <a:ext cx="14081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2D6CDF"/>
                </a:solidFill>
                <a:latin typeface="Microsoft YaHei"/>
              </a:rPr>
              <a:t>统信 UOS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" y="3877056"/>
            <a:ext cx="1408176" cy="256032"/>
          </a:xfrm>
          <a:prstGeom prst="roundRect">
            <a:avLst/>
          </a:prstGeom>
          <a:solidFill>
            <a:srgbClr val="6754C4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" y="3886200"/>
            <a:ext cx="14081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6754C4"/>
                </a:solidFill>
                <a:latin typeface="Microsoft YaHei"/>
              </a:rPr>
              <a:t>AppImage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96896" y="3877056"/>
            <a:ext cx="1408176" cy="256032"/>
          </a:xfrm>
          <a:prstGeom prst="roundRect">
            <a:avLst/>
          </a:prstGeom>
          <a:solidFill>
            <a:srgbClr val="1C996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96896" y="3886200"/>
            <a:ext cx="14081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C996F"/>
                </a:solidFill>
                <a:latin typeface="Microsoft YaHei"/>
              </a:rPr>
              <a:t>deb / rpm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206240" y="2176272"/>
            <a:ext cx="1097280" cy="1097280"/>
          </a:xfrm>
          <a:prstGeom prst="line">
            <a:avLst/>
          </a:prstGeom>
          <a:ln w="10160">
            <a:solidFill>
              <a:srgbClr val="009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206240" y="3273552"/>
            <a:ext cx="1097280" cy="1133856"/>
          </a:xfrm>
          <a:prstGeom prst="line">
            <a:avLst/>
          </a:prstGeom>
          <a:ln w="10160">
            <a:solidFill>
              <a:srgbClr val="009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047488" y="2999232"/>
            <a:ext cx="512064" cy="512064"/>
          </a:xfrm>
          <a:prstGeom prst="ellipse">
            <a:avLst/>
          </a:prstGeom>
          <a:solidFill>
            <a:srgbClr val="0092C3"/>
          </a:solidFill>
          <a:ln w="635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47488" y="3163824"/>
            <a:ext cx="512064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OS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1874519"/>
            <a:ext cx="5449824" cy="32735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212140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182D4C"/>
                </a:solidFill>
                <a:latin typeface="Microsoft YaHei"/>
              </a:rPr>
              <a:t>容器化工具链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2487168"/>
            <a:ext cx="246888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996F"/>
                </a:solidFill>
                <a:latin typeface="Consolas"/>
              </a:rPr>
              <a:t>Docker / Podman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2779776"/>
            <a:ext cx="31089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C84"/>
                </a:solidFill>
                <a:latin typeface="Microsoft YaHei"/>
              </a:rPr>
              <a:t>工具隔离运行，镜像可离线打包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0" y="3328416"/>
            <a:ext cx="2084831" cy="256032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65392" y="3364992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nuclei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27264" y="3364992"/>
            <a:ext cx="47548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isolated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3712464"/>
            <a:ext cx="2084831" cy="256032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65392" y="3749040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6754C4"/>
                </a:solidFill>
                <a:latin typeface="Consolas"/>
              </a:rPr>
              <a:t>sqlmap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7264" y="3749040"/>
            <a:ext cx="47548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isolated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0" y="4096512"/>
            <a:ext cx="2084831" cy="256032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65392" y="4133088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2D6CDF"/>
                </a:solidFill>
                <a:latin typeface="Consolas"/>
              </a:rPr>
              <a:t>nmap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27264" y="4133088"/>
            <a:ext cx="47548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isolated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4480560"/>
            <a:ext cx="2084831" cy="256032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65392" y="4517136"/>
            <a:ext cx="1097280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C8840F"/>
                </a:solidFill>
                <a:latin typeface="Consolas"/>
              </a:rPr>
              <a:t>hydra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27264" y="4517136"/>
            <a:ext cx="47548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isolated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81160" y="3657600"/>
            <a:ext cx="694944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B6C84"/>
                </a:solidFill>
                <a:latin typeface="Consolas"/>
              </a:rPr>
              <a:t>镜像仓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8723376" y="3694176"/>
            <a:ext cx="475488" cy="182880"/>
          </a:xfrm>
          <a:prstGeom prst="rightArrow">
            <a:avLst/>
          </a:prstGeom>
          <a:solidFill>
            <a:srgbClr val="1C996F"/>
          </a:solidFill>
          <a:ln w="127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802368" y="3246120"/>
            <a:ext cx="1243584" cy="877824"/>
          </a:xfrm>
          <a:prstGeom prst="roundRect">
            <a:avLst/>
          </a:prstGeom>
          <a:solidFill>
            <a:srgbClr val="F7FAFD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12096" y="3493008"/>
            <a:ext cx="102412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C996F"/>
                </a:solidFill>
                <a:latin typeface="Consolas"/>
              </a:rPr>
              <a:t>OFFLINE
BUNDLE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232" y="5559552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0092C3"/>
                </a:solidFill>
                <a:latin typeface="Consolas"/>
              </a:rPr>
              <a:t>离线迁移路径</a:t>
            </a:r>
          </a:p>
        </p:txBody>
      </p:sp>
      <p:sp>
        <p:nvSpPr>
          <p:cNvPr id="85" name="Oval 84"/>
          <p:cNvSpPr/>
          <p:nvPr/>
        </p:nvSpPr>
        <p:spPr>
          <a:xfrm>
            <a:off x="2331720" y="5504688"/>
            <a:ext cx="365760" cy="365760"/>
          </a:xfrm>
          <a:prstGeom prst="ellipse">
            <a:avLst/>
          </a:prstGeom>
          <a:solidFill>
            <a:srgbClr val="0092C3"/>
          </a:solidFill>
          <a:ln w="508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31720" y="5614416"/>
            <a:ext cx="365760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16352" y="5577840"/>
            <a:ext cx="1042415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构建镜像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3813048" y="5596128"/>
            <a:ext cx="475488" cy="164592"/>
          </a:xfrm>
          <a:prstGeom prst="rightArrow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663440" y="5504688"/>
            <a:ext cx="365760" cy="365760"/>
          </a:xfrm>
          <a:prstGeom prst="ellipse">
            <a:avLst/>
          </a:prstGeom>
          <a:solidFill>
            <a:srgbClr val="6754C4"/>
          </a:solidFill>
          <a:ln w="508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63440" y="5614416"/>
            <a:ext cx="365760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48072" y="5577840"/>
            <a:ext cx="1042415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离线介质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6144768" y="5596128"/>
            <a:ext cx="475488" cy="164592"/>
          </a:xfrm>
          <a:prstGeom prst="rightArrow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995159" y="5504688"/>
            <a:ext cx="365760" cy="365760"/>
          </a:xfrm>
          <a:prstGeom prst="ellipse">
            <a:avLst/>
          </a:prstGeom>
          <a:solidFill>
            <a:srgbClr val="1C996F"/>
          </a:solidFill>
          <a:ln w="508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95159" y="5614416"/>
            <a:ext cx="365760" cy="1280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7FAFD"/>
                </a:solidFill>
                <a:latin typeface="Consolas"/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79792" y="5577840"/>
            <a:ext cx="1042415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82D4C"/>
                </a:solidFill>
                <a:latin typeface="Microsoft YaHei"/>
              </a:rPr>
              <a:t>目标环境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860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0092C3"/>
                </a:solidFill>
                <a:latin typeface="Consolas"/>
              </a:rPr>
              <a:t>REDTEAM-PLATFORM  /  08 /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82D4C"/>
                </a:solidFill>
                <a:latin typeface="Microsoft YaHei"/>
              </a:rPr>
              <a:t>当前进展与下一步计划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016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64556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5B6C84"/>
                </a:solidFill>
                <a:latin typeface="Consolas"/>
              </a:rPr>
              <a:t>09  / 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 i="0">
                <a:solidFill>
                  <a:srgbClr val="5B6C84"/>
                </a:solidFill>
                <a:latin typeface="Consolas"/>
              </a:rPr>
              <a:t>SECURE  ·  INTELLIGENT  · 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1335024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5B6C84"/>
                </a:solidFill>
                <a:latin typeface="Microsoft YaHei"/>
              </a:rPr>
              <a:t>先完成可运行骨架，再把智能能力做成可复用资产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1901952"/>
            <a:ext cx="5212080" cy="3621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213969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182D4C"/>
                </a:solidFill>
                <a:latin typeface="Microsoft YaHei"/>
              </a:rPr>
              <a:t>当前进展 · Phase 0</a:t>
            </a:r>
          </a:p>
        </p:txBody>
      </p:sp>
      <p:sp>
        <p:nvSpPr>
          <p:cNvPr id="50" name="Oval 49"/>
          <p:cNvSpPr/>
          <p:nvPr/>
        </p:nvSpPr>
        <p:spPr>
          <a:xfrm>
            <a:off x="969264" y="2706624"/>
            <a:ext cx="164592" cy="164592"/>
          </a:xfrm>
          <a:prstGeom prst="ellipse">
            <a:avLst/>
          </a:prstGeom>
          <a:solidFill>
            <a:srgbClr val="0092C3"/>
          </a:solidFill>
          <a:ln w="381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16736" y="2651760"/>
            <a:ext cx="34015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82D4C"/>
                </a:solidFill>
                <a:latin typeface="Microsoft YaHei"/>
              </a:rPr>
              <a:t>Qt5/C++ 项目骨架编译运行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265176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1" i="0">
                <a:solidFill>
                  <a:srgbClr val="0092C3"/>
                </a:solidFill>
                <a:latin typeface="Consolas"/>
              </a:rPr>
              <a:t>DONE</a:t>
            </a:r>
          </a:p>
        </p:txBody>
      </p:sp>
      <p:sp>
        <p:nvSpPr>
          <p:cNvPr id="53" name="Oval 52"/>
          <p:cNvSpPr/>
          <p:nvPr/>
        </p:nvSpPr>
        <p:spPr>
          <a:xfrm>
            <a:off x="969264" y="3200400"/>
            <a:ext cx="164592" cy="164592"/>
          </a:xfrm>
          <a:prstGeom prst="ellipse">
            <a:avLst/>
          </a:prstGeom>
          <a:solidFill>
            <a:srgbClr val="6754C4"/>
          </a:solidFill>
          <a:ln w="381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16736" y="3145536"/>
            <a:ext cx="34015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82D4C"/>
                </a:solidFill>
                <a:latin typeface="Microsoft YaHei"/>
              </a:rPr>
              <a:t>7 个一级模块导航占位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83480" y="3145536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1" i="0">
                <a:solidFill>
                  <a:srgbClr val="6754C4"/>
                </a:solidFill>
                <a:latin typeface="Consolas"/>
              </a:rPr>
              <a:t>DONE</a:t>
            </a:r>
          </a:p>
        </p:txBody>
      </p:sp>
      <p:sp>
        <p:nvSpPr>
          <p:cNvPr id="56" name="Oval 55"/>
          <p:cNvSpPr/>
          <p:nvPr/>
        </p:nvSpPr>
        <p:spPr>
          <a:xfrm>
            <a:off x="969264" y="3694176"/>
            <a:ext cx="164592" cy="164592"/>
          </a:xfrm>
          <a:prstGeom prst="ellipse">
            <a:avLst/>
          </a:prstGeom>
          <a:solidFill>
            <a:srgbClr val="1C996F"/>
          </a:solidFill>
          <a:ln w="381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6736" y="3639312"/>
            <a:ext cx="34015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82D4C"/>
                </a:solidFill>
                <a:latin typeface="Microsoft YaHei"/>
              </a:rPr>
              <a:t>本地后端连接检测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83480" y="3639312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1" i="0">
                <a:solidFill>
                  <a:srgbClr val="1C996F"/>
                </a:solidFill>
                <a:latin typeface="Consolas"/>
              </a:rPr>
              <a:t>DONE</a:t>
            </a:r>
          </a:p>
        </p:txBody>
      </p:sp>
      <p:sp>
        <p:nvSpPr>
          <p:cNvPr id="59" name="Oval 58"/>
          <p:cNvSpPr/>
          <p:nvPr/>
        </p:nvSpPr>
        <p:spPr>
          <a:xfrm>
            <a:off x="969264" y="4187951"/>
            <a:ext cx="164592" cy="164592"/>
          </a:xfrm>
          <a:prstGeom prst="ellipse">
            <a:avLst/>
          </a:prstGeom>
          <a:solidFill>
            <a:srgbClr val="C8840F"/>
          </a:solidFill>
          <a:ln w="3810">
            <a:solidFill>
              <a:srgbClr val="C88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16736" y="4133087"/>
            <a:ext cx="34015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82D4C"/>
                </a:solidFill>
                <a:latin typeface="Microsoft YaHei"/>
              </a:rPr>
              <a:t>平台架构与功能清单确认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80" y="4133087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1" i="0">
                <a:solidFill>
                  <a:srgbClr val="C8840F"/>
                </a:solidFill>
                <a:latin typeface="Consolas"/>
              </a:rPr>
              <a:t>DONE</a:t>
            </a:r>
          </a:p>
        </p:txBody>
      </p:sp>
      <p:sp>
        <p:nvSpPr>
          <p:cNvPr id="62" name="Oval 61"/>
          <p:cNvSpPr/>
          <p:nvPr/>
        </p:nvSpPr>
        <p:spPr>
          <a:xfrm>
            <a:off x="969264" y="4681728"/>
            <a:ext cx="164592" cy="164592"/>
          </a:xfrm>
          <a:prstGeom prst="ellipse">
            <a:avLst/>
          </a:prstGeom>
          <a:solidFill>
            <a:srgbClr val="2D6CDF"/>
          </a:solidFill>
          <a:ln w="381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16736" y="4626864"/>
            <a:ext cx="34015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82D4C"/>
                </a:solidFill>
                <a:latin typeface="Microsoft YaHei"/>
              </a:rPr>
              <a:t>扫描驱动工作流方案已定义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4626864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1" i="0">
                <a:solidFill>
                  <a:srgbClr val="2D6CDF"/>
                </a:solidFill>
                <a:latin typeface="Consolas"/>
              </a:rPr>
              <a:t>DONE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44768" y="1901952"/>
            <a:ext cx="5431536" cy="3621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9088" y="2139696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182D4C"/>
                </a:solidFill>
                <a:latin typeface="Microsoft YaHei"/>
              </a:rPr>
              <a:t>下一步计划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19088" y="2670048"/>
            <a:ext cx="4846320" cy="621792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38544" y="2852928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6754C4"/>
                </a:solidFill>
                <a:latin typeface="Consolas"/>
              </a:rPr>
              <a:t>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7184" y="2761488"/>
            <a:ext cx="16276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数据库与核心数据迁移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87184" y="3017520"/>
            <a:ext cx="363931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Phase 1：SQLite 数据模型与资产沉淀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19088" y="3511296"/>
            <a:ext cx="4846320" cy="621792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38544" y="3694176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996F"/>
                </a:solidFill>
                <a:latin typeface="Consolas"/>
              </a:rPr>
              <a:t>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87184" y="3602736"/>
            <a:ext cx="16276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工具容器化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87184" y="3858768"/>
            <a:ext cx="363931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Phase 2：工具镜像、执行引擎与离线包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19088" y="4352544"/>
            <a:ext cx="4846320" cy="621792"/>
          </a:xfrm>
          <a:prstGeom prst="roundRect">
            <a:avLst/>
          </a:prstGeom>
          <a:solidFill>
            <a:srgbClr val="EFF6FC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38544" y="4535424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0092C3"/>
                </a:solidFill>
                <a:latin typeface="Consolas"/>
              </a:rPr>
              <a:t>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87184" y="4443983"/>
            <a:ext cx="16276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82D4C"/>
                </a:solidFill>
                <a:latin typeface="Microsoft YaHei"/>
              </a:rPr>
              <a:t>Qt 主框架与工作流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87184" y="4700016"/>
            <a:ext cx="363931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C84"/>
                </a:solidFill>
                <a:latin typeface="Microsoft YaHei"/>
              </a:rPr>
              <a:t>Phase 3/4：模块迁移与扫描驱动闭环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797296"/>
            <a:ext cx="10917936" cy="365760"/>
          </a:xfrm>
          <a:prstGeom prst="roundRect">
            <a:avLst/>
          </a:prstGeom>
          <a:solidFill>
            <a:srgbClr val="F7FAFD"/>
          </a:solidFill>
          <a:ln w="762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9536" y="5888736"/>
            <a:ext cx="1051560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0092C3"/>
                </a:solidFill>
                <a:latin typeface="Microsoft YaHei"/>
              </a:rPr>
              <a:t>原则：能力组件化 · 过程可审计 · 结果可复用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28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1887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6916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6974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2062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70916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21208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21792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4445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38360" y="-914400"/>
            <a:ext cx="3749039" cy="3749039"/>
          </a:xfrm>
          <a:prstGeom prst="ellipse">
            <a:avLst/>
          </a:prstGeom>
          <a:solidFill>
            <a:srgbClr val="6754C4"/>
          </a:solidFill>
          <a:ln w="127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-1280160" y="5074920"/>
            <a:ext cx="3108960" cy="3108960"/>
          </a:xfrm>
          <a:prstGeom prst="ellipse">
            <a:avLst/>
          </a:prstGeom>
          <a:solidFill>
            <a:srgbClr val="0092C3"/>
          </a:solidFill>
          <a:ln w="127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1444752"/>
            <a:ext cx="36576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400" b="1" i="0">
                <a:solidFill>
                  <a:srgbClr val="182D4C"/>
                </a:solidFill>
                <a:latin typeface="Microsoft YaHei"/>
              </a:rPr>
              <a:t>谢谢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" y="2194560"/>
            <a:ext cx="1828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 i="0">
                <a:solidFill>
                  <a:srgbClr val="0092C3"/>
                </a:solidFill>
                <a:latin typeface="Consolas"/>
              </a:rPr>
              <a:t>Q&amp;A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2889504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5B6C84"/>
                </a:solidFill>
                <a:latin typeface="Microsoft YaHei"/>
              </a:rPr>
              <a:t>信息系统渗透智能化测试平台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8096" y="3401568"/>
            <a:ext cx="3602736" cy="0"/>
          </a:xfrm>
          <a:prstGeom prst="line">
            <a:avLst/>
          </a:prstGeom>
          <a:ln w="17780">
            <a:solidFill>
              <a:srgbClr val="009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68096" y="3730752"/>
            <a:ext cx="1060704" cy="256032"/>
          </a:xfrm>
          <a:prstGeom prst="roundRect">
            <a:avLst/>
          </a:prstGeom>
          <a:solidFill>
            <a:srgbClr val="0092C3"/>
          </a:solidFill>
          <a:ln w="889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3739896"/>
            <a:ext cx="106070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0092C3"/>
                </a:solidFill>
                <a:latin typeface="Microsoft YaHei"/>
              </a:rPr>
              <a:t>DISCOVER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9967" y="3730752"/>
            <a:ext cx="1060704" cy="256032"/>
          </a:xfrm>
          <a:prstGeom prst="roundRect">
            <a:avLst/>
          </a:prstGeom>
          <a:solidFill>
            <a:srgbClr val="6754C4"/>
          </a:solidFill>
          <a:ln w="889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9967" y="3739896"/>
            <a:ext cx="106070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6754C4"/>
                </a:solidFill>
                <a:latin typeface="Microsoft YaHei"/>
              </a:rPr>
              <a:t>AUTOMATE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1839" y="3730752"/>
            <a:ext cx="1060704" cy="256032"/>
          </a:xfrm>
          <a:prstGeom prst="roundRect">
            <a:avLst/>
          </a:prstGeom>
          <a:solidFill>
            <a:srgbClr val="1C996F"/>
          </a:solidFill>
          <a:ln w="889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39" y="3739896"/>
            <a:ext cx="106070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C996F"/>
                </a:solidFill>
                <a:latin typeface="Microsoft YaHei"/>
              </a:rPr>
              <a:t>ASSESS</a:t>
            </a:r>
          </a:p>
        </p:txBody>
      </p:sp>
      <p:sp>
        <p:nvSpPr>
          <p:cNvPr id="52" name="Oval 51"/>
          <p:cNvSpPr/>
          <p:nvPr/>
        </p:nvSpPr>
        <p:spPr>
          <a:xfrm>
            <a:off x="7063740" y="1824228"/>
            <a:ext cx="2971800" cy="2971800"/>
          </a:xfrm>
          <a:prstGeom prst="ellipse">
            <a:avLst/>
          </a:prstGeom>
          <a:solidFill>
            <a:srgbClr val="F7FAFD"/>
          </a:solidFill>
          <a:ln w="11430">
            <a:solidFill>
              <a:srgbClr val="009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29500" y="2189988"/>
            <a:ext cx="2240280" cy="2240280"/>
          </a:xfrm>
          <a:prstGeom prst="ellipse">
            <a:avLst/>
          </a:prstGeom>
          <a:solidFill>
            <a:srgbClr val="F7FAFD"/>
          </a:solidFill>
          <a:ln w="11430">
            <a:solidFill>
              <a:srgbClr val="675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99831" y="2560320"/>
            <a:ext cx="1499616" cy="1499616"/>
          </a:xfrm>
          <a:prstGeom prst="ellipse">
            <a:avLst/>
          </a:prstGeom>
          <a:solidFill>
            <a:srgbClr val="F7FAFD"/>
          </a:solidFill>
          <a:ln w="1143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040880" y="3310128"/>
            <a:ext cx="3017520" cy="0"/>
          </a:xfrm>
          <a:prstGeom prst="line">
            <a:avLst/>
          </a:prstGeom>
          <a:ln w="10160">
            <a:solidFill>
              <a:srgbClr val="009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549640" y="1810512"/>
            <a:ext cx="0" cy="2999232"/>
          </a:xfrm>
          <a:prstGeom prst="line">
            <a:avLst/>
          </a:prstGeom>
          <a:ln w="10160">
            <a:solidFill>
              <a:srgbClr val="675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Hexagon 56"/>
          <p:cNvSpPr/>
          <p:nvPr/>
        </p:nvSpPr>
        <p:spPr>
          <a:xfrm>
            <a:off x="7973568" y="2615184"/>
            <a:ext cx="1152144" cy="1316736"/>
          </a:xfrm>
          <a:prstGeom prst="hexagon">
            <a:avLst/>
          </a:prstGeom>
          <a:solidFill>
            <a:srgbClr val="1C996F"/>
          </a:solidFill>
          <a:ln w="1905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Hexagon 57"/>
          <p:cNvSpPr/>
          <p:nvPr/>
        </p:nvSpPr>
        <p:spPr>
          <a:xfrm>
            <a:off x="8055864" y="2706624"/>
            <a:ext cx="987552" cy="1133856"/>
          </a:xfrm>
          <a:prstGeom prst="hexagon">
            <a:avLst/>
          </a:prstGeom>
          <a:solidFill>
            <a:srgbClr val="F7FAFD"/>
          </a:solidFill>
          <a:ln w="12700">
            <a:solidFill>
              <a:srgbClr val="1C9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8342254" y="3352556"/>
            <a:ext cx="184343" cy="197510"/>
          </a:xfrm>
          <a:prstGeom prst="line">
            <a:avLst/>
          </a:prstGeom>
          <a:ln w="19050">
            <a:solidFill>
              <a:srgbClr val="1C99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526597" y="3128711"/>
            <a:ext cx="299557" cy="421355"/>
          </a:xfrm>
          <a:prstGeom prst="line">
            <a:avLst/>
          </a:prstGeom>
          <a:ln w="19050">
            <a:solidFill>
              <a:srgbClr val="1C99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083296" y="3063240"/>
            <a:ext cx="932688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82D4C"/>
                </a:solidFill>
                <a:latin typeface="Consolas"/>
              </a:rPr>
              <a:t>READY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9168" y="6089904"/>
            <a:ext cx="36576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B6C84"/>
                </a:solidFill>
                <a:latin typeface="Consolas"/>
              </a:rPr>
              <a:t>REDTEAM-PLATFORM  ·  PROJECT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