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078992"/>
            <a:ext cx="347472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000" b="1" i="0">
                <a:solidFill>
                  <a:srgbClr val="182D4C"/>
                </a:solidFill>
                <a:latin typeface="Microsoft YaHei"/>
              </a:rPr>
              <a:t>阶段工作汇报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19072"/>
            <a:ext cx="34747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0092C3"/>
                </a:solidFill>
                <a:latin typeface="Consolas"/>
              </a:rPr>
              <a:t>2026.08.30 — 2026.09.03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22576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182D4C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24912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0" i="0">
                <a:solidFill>
                  <a:srgbClr val="5B6C84"/>
                </a:solidFill>
                <a:latin typeface="Consolas"/>
              </a:rPr>
              <a:t>RedTeam-Platform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55264"/>
            <a:ext cx="523036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本阶段围绕 8 月 30 日汇报提出的问题，集中完善攻击编排、扫描工作流、评估输出和演示页面。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718304"/>
            <a:ext cx="1133856" cy="7132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828032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092C3"/>
                </a:solidFill>
                <a:latin typeface="Consola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873752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Microsoft YaHei"/>
              </a:rPr>
              <a:t>工作主线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1408" y="4718304"/>
            <a:ext cx="1133856" cy="7132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4828032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D2485B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4873752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Microsoft YaHei"/>
              </a:rPr>
              <a:t>攻击阶段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4718304"/>
            <a:ext cx="1133856" cy="7132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4828032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6754C4"/>
                </a:solidFill>
                <a:latin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4873752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Microsoft YaHei"/>
              </a:rPr>
              <a:t>应用目标类型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4608" y="4718304"/>
            <a:ext cx="1133856" cy="7132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4828032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1C996F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4873752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Microsoft YaHei"/>
              </a:rPr>
              <a:t>新增闭环引擎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2011680"/>
            <a:ext cx="144475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2212848"/>
            <a:ext cx="144475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0092C3"/>
                </a:solidFill>
                <a:latin typeface="Consolas"/>
              </a:rPr>
              <a:t>CAMPAIGN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2011680"/>
            <a:ext cx="144475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2212848"/>
            <a:ext cx="144475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6754C4"/>
                </a:solidFill>
                <a:latin typeface="Consolas"/>
              </a:rPr>
              <a:t>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3163824"/>
            <a:ext cx="144475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3364992"/>
            <a:ext cx="144475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1C996F"/>
                </a:solidFill>
                <a:latin typeface="Consolas"/>
              </a:rPr>
              <a:t>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17152" y="3163824"/>
            <a:ext cx="144475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3364992"/>
            <a:ext cx="144475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C8840F"/>
                </a:solidFill>
                <a:latin typeface="Consolas"/>
              </a:rPr>
              <a:t>TOPOLOGY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89136" y="2926080"/>
            <a:ext cx="658368" cy="0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47504" y="2926080"/>
            <a:ext cx="0" cy="877824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326880" y="3803904"/>
            <a:ext cx="420624" cy="0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exagon 31"/>
          <p:cNvSpPr/>
          <p:nvPr/>
        </p:nvSpPr>
        <p:spPr>
          <a:xfrm>
            <a:off x="9345168" y="3401568"/>
            <a:ext cx="1051560" cy="1188720"/>
          </a:xfrm>
          <a:prstGeom prst="hexagon">
            <a:avLst/>
          </a:prstGeom>
          <a:solidFill>
            <a:srgbClr val="0092C3"/>
          </a:solidFill>
          <a:ln w="1905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9427464" y="3493008"/>
            <a:ext cx="886968" cy="1005840"/>
          </a:xfrm>
          <a:prstGeom prst="hexagon">
            <a:avLst/>
          </a:prstGeom>
          <a:solidFill>
            <a:srgbClr val="F7FAFD"/>
          </a:solidFill>
          <a:ln w="1270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681667" y="4067251"/>
            <a:ext cx="168249" cy="178308"/>
          </a:xfrm>
          <a:prstGeom prst="line">
            <a:avLst/>
          </a:prstGeom>
          <a:ln w="1905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849916" y="3865168"/>
            <a:ext cx="273406" cy="380391"/>
          </a:xfrm>
          <a:prstGeom prst="line">
            <a:avLst/>
          </a:prstGeom>
          <a:ln w="1905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45752" y="3794760"/>
            <a:ext cx="84124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182D4C"/>
                </a:solidFill>
                <a:latin typeface="Consolas"/>
              </a:rPr>
              <a:t>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6236208"/>
            <a:ext cx="422452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WORK REPORT  ·  REDTEAM-PLATFORM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01 / SCOPE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8 月 30 日之后：围绕四类问题集中补功能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02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本阶段以“功能能跑、链路串起来、结果看得懂”为验收导向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874519"/>
            <a:ext cx="5065776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7824" y="2167127"/>
            <a:ext cx="365760" cy="365760"/>
          </a:xfrm>
          <a:prstGeom prst="ellipse">
            <a:avLst/>
          </a:prstGeom>
          <a:solidFill>
            <a:srgbClr val="0092C3"/>
          </a:solidFill>
          <a:ln w="508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2286000"/>
            <a:ext cx="365760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2084831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攻击测试编排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040" y="2423160"/>
            <a:ext cx="380390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把三类攻击从标签筛选提升为可管理的阶段化战役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44768" y="1874519"/>
            <a:ext cx="5065776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64224" y="2167127"/>
            <a:ext cx="365760" cy="365760"/>
          </a:xfrm>
          <a:prstGeom prst="ellipse">
            <a:avLst/>
          </a:prstGeom>
          <a:solidFill>
            <a:srgbClr val="6754C4"/>
          </a:solidFill>
          <a:ln w="508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4" y="2286000"/>
            <a:ext cx="365760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2084831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扫描到攻击串联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2423160"/>
            <a:ext cx="380390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补充应用扫描、目标分类、分析和一站式流水线能力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3355848"/>
            <a:ext cx="5065776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77824" y="3648456"/>
            <a:ext cx="365760" cy="365760"/>
          </a:xfrm>
          <a:prstGeom prst="ellipse">
            <a:avLst/>
          </a:prstGeom>
          <a:solidFill>
            <a:srgbClr val="1C996F"/>
          </a:solidFill>
          <a:ln w="508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" y="3767328"/>
            <a:ext cx="365760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63040" y="356616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评估与报告输出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3904487"/>
            <a:ext cx="380390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补齐报告预览/导出、网络捕获和分析入口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44768" y="3355848"/>
            <a:ext cx="5065776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64224" y="3648456"/>
            <a:ext cx="365760" cy="365760"/>
          </a:xfrm>
          <a:prstGeom prst="ellipse">
            <a:avLst/>
          </a:prstGeom>
          <a:solidFill>
            <a:srgbClr val="C8840F"/>
          </a:solidFill>
          <a:ln w="508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3767328"/>
            <a:ext cx="365760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356616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系统与演示体验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3904487"/>
            <a:ext cx="380390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补齐权限、靶场、拓扑、总览大屏和交互细节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5120640"/>
            <a:ext cx="10552176" cy="749808"/>
          </a:xfrm>
          <a:prstGeom prst="roundRect">
            <a:avLst/>
          </a:prstGeom>
          <a:solidFill>
            <a:srgbClr val="EFF6FC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5376672"/>
            <a:ext cx="65836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0092C3"/>
                </a:solidFill>
                <a:latin typeface="Consolas"/>
              </a:rPr>
              <a:t>时间线</a:t>
            </a:r>
          </a:p>
        </p:txBody>
      </p:sp>
      <p:sp>
        <p:nvSpPr>
          <p:cNvPr id="70" name="Oval 69"/>
          <p:cNvSpPr/>
          <p:nvPr/>
        </p:nvSpPr>
        <p:spPr>
          <a:xfrm>
            <a:off x="1993392" y="5321808"/>
            <a:ext cx="201168" cy="201168"/>
          </a:xfrm>
          <a:prstGeom prst="ellipse">
            <a:avLst/>
          </a:prstGeom>
          <a:solidFill>
            <a:srgbClr val="0092C3"/>
          </a:solidFill>
          <a:ln w="381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22576" y="5285232"/>
            <a:ext cx="74980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08.30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72384" y="5285232"/>
            <a:ext cx="1243584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82D4C"/>
                </a:solidFill>
                <a:latin typeface="Microsoft YaHei"/>
              </a:rPr>
              <a:t>问题拆解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4151376" y="5349240"/>
            <a:ext cx="329184" cy="128016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791456" y="5321808"/>
            <a:ext cx="201168" cy="201168"/>
          </a:xfrm>
          <a:prstGeom prst="ellipse">
            <a:avLst/>
          </a:prstGeom>
          <a:solidFill>
            <a:srgbClr val="6754C4"/>
          </a:solidFill>
          <a:ln w="381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0" y="5285232"/>
            <a:ext cx="74980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754C4"/>
                </a:solidFill>
                <a:latin typeface="Consolas"/>
              </a:rPr>
              <a:t>09.02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70448" y="5285232"/>
            <a:ext cx="1243584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82D4C"/>
                </a:solidFill>
                <a:latin typeface="Microsoft YaHei"/>
              </a:rPr>
              <a:t>扫描交互优化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6949440" y="5349240"/>
            <a:ext cx="329184" cy="128016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89520" y="5321808"/>
            <a:ext cx="201168" cy="201168"/>
          </a:xfrm>
          <a:prstGeom prst="ellipse">
            <a:avLst/>
          </a:prstGeom>
          <a:solidFill>
            <a:srgbClr val="1C996F"/>
          </a:solidFill>
          <a:ln w="381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18704" y="5285232"/>
            <a:ext cx="74980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C996F"/>
                </a:solidFill>
                <a:latin typeface="Consolas"/>
              </a:rPr>
              <a:t>09.03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68512" y="5285232"/>
            <a:ext cx="1243584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82D4C"/>
                </a:solidFill>
                <a:latin typeface="Microsoft YaHei"/>
              </a:rPr>
              <a:t>战役/大屏/拓扑联动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02 / CAMPAIGN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攻击战役：三类攻击进入阶段化管理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03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8229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新增 Campaign 数据模型、后端接口和 Qt 页面，支持多 Playbook 编排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" y="1920240"/>
            <a:ext cx="2322576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0976" y="2148840"/>
            <a:ext cx="329184" cy="329184"/>
          </a:xfrm>
          <a:prstGeom prst="ellipse">
            <a:avLst/>
          </a:prstGeom>
          <a:solidFill>
            <a:srgbClr val="0092C3"/>
          </a:solidFill>
          <a:ln w="508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2258568"/>
            <a:ext cx="329184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08176" y="2130552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数据抵近窃取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" y="2670048"/>
            <a:ext cx="193852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凭据 / 文件 / 数据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145536" y="2441448"/>
            <a:ext cx="347472" cy="164592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47872" y="1920240"/>
            <a:ext cx="2322576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730752" y="2148840"/>
            <a:ext cx="329184" cy="329184"/>
          </a:xfrm>
          <a:prstGeom prst="ellipse">
            <a:avLst/>
          </a:prstGeom>
          <a:solidFill>
            <a:srgbClr val="6754C4"/>
          </a:solidFill>
          <a:ln w="508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30752" y="2258568"/>
            <a:ext cx="329184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7952" y="2130552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信息篡改欺骗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30752" y="2670048"/>
            <a:ext cx="193852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DNS / 会话 / 误导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5925312" y="2441448"/>
            <a:ext cx="347472" cy="164592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27648" y="1920240"/>
            <a:ext cx="2322576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510528" y="2148840"/>
            <a:ext cx="329184" cy="329184"/>
          </a:xfrm>
          <a:prstGeom prst="ellipse">
            <a:avLst/>
          </a:prstGeom>
          <a:solidFill>
            <a:srgbClr val="D2485B"/>
          </a:solidFill>
          <a:ln w="508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8" y="2258568"/>
            <a:ext cx="329184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7728" y="2130552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关键设备夺控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10528" y="2670048"/>
            <a:ext cx="193852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横向 / 控制 / 持久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68096" y="3794760"/>
            <a:ext cx="2322576" cy="12435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" y="404164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2D4C"/>
                </a:solidFill>
                <a:latin typeface="Microsoft YaHei"/>
              </a:rPr>
              <a:t>数据模型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" y="4407408"/>
            <a:ext cx="193852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campaigns / phases / playbooks / artifacts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675887" y="3794760"/>
            <a:ext cx="2322576" cy="12435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40479" y="404164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2D4C"/>
                </a:solidFill>
                <a:latin typeface="Microsoft YaHei"/>
              </a:rPr>
              <a:t>前端页面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79" y="4407408"/>
            <a:ext cx="193852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战役列表 + 阶段指示 + 阶段产物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3794760"/>
            <a:ext cx="2322576" cy="12435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48272" y="404164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2D4C"/>
                </a:solidFill>
                <a:latin typeface="Microsoft YaHei"/>
              </a:rPr>
              <a:t>运行控制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48272" y="4407408"/>
            <a:ext cx="193852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启动 / 暂停 / 终止 / 查看战役报告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91472" y="3794760"/>
            <a:ext cx="2322576" cy="12435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56064" y="404164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2D4C"/>
                </a:solidFill>
                <a:latin typeface="Microsoft YaHei"/>
              </a:rPr>
              <a:t>阶段执行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56064" y="4407408"/>
            <a:ext cx="193852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串行 / 并行 / 条件模式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8096" y="5413248"/>
            <a:ext cx="10808208" cy="438912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7552" y="5541264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0092C3"/>
                </a:solidFill>
                <a:latin typeface="Microsoft YaHei"/>
              </a:rPr>
              <a:t>阶段产物可跨阶段传递：例如凭据、发现 IP、访问令牌进入后续 Playbook。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03 / PIPELINE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扫描流水线：补上分析层，形成可追踪的状态机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04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8778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新增 Pipeline 表、路由和执行引擎，状态与日志通过 WebSocket 实时广播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2148840"/>
            <a:ext cx="1755648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2395728"/>
            <a:ext cx="17556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0092C3"/>
                </a:solidFill>
                <a:latin typeface="Consolas"/>
              </a:rPr>
              <a:t>SCAN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2743200"/>
            <a:ext cx="14630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B6C84"/>
                </a:solidFill>
                <a:latin typeface="Microsoft YaHei"/>
              </a:rPr>
              <a:t>多类型扫描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2523744" y="2633472"/>
            <a:ext cx="310896" cy="146304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980944" y="2148840"/>
            <a:ext cx="1755648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80944" y="2395728"/>
            <a:ext cx="17556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2D6CDF"/>
                </a:solidFill>
                <a:latin typeface="Consolas"/>
              </a:rPr>
              <a:t>ANALYZE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27248" y="2743200"/>
            <a:ext cx="14630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B6C84"/>
                </a:solidFill>
                <a:latin typeface="Microsoft YaHei"/>
              </a:rPr>
              <a:t>LLM 分析技术栈 / 攻击面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4791456" y="2633472"/>
            <a:ext cx="310896" cy="146304"/>
          </a:xfrm>
          <a:prstGeom prst="rightArrow">
            <a:avLst/>
          </a:prstGeom>
          <a:solidFill>
            <a:srgbClr val="2D6CDF"/>
          </a:solidFill>
          <a:ln w="127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248656" y="2148840"/>
            <a:ext cx="1755648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48656" y="2395728"/>
            <a:ext cx="17556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6754C4"/>
                </a:solidFill>
                <a:latin typeface="Consolas"/>
              </a:rPr>
              <a:t>GENERATE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4960" y="2743200"/>
            <a:ext cx="14630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B6C84"/>
                </a:solidFill>
                <a:latin typeface="Microsoft YaHei"/>
              </a:rPr>
              <a:t>匹配或生成 Playbook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059168" y="2633472"/>
            <a:ext cx="310896" cy="146304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516367" y="2148840"/>
            <a:ext cx="1755648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16367" y="2395728"/>
            <a:ext cx="17556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D2485B"/>
                </a:solidFill>
                <a:latin typeface="Consolas"/>
              </a:rPr>
              <a:t>EXECUTE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62671" y="2743200"/>
            <a:ext cx="14630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B6C84"/>
                </a:solidFill>
                <a:latin typeface="Microsoft YaHei"/>
              </a:rPr>
              <a:t>启动执行并记录证据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9326880" y="2633472"/>
            <a:ext cx="310896" cy="146304"/>
          </a:xfrm>
          <a:prstGeom prst="rightArrow">
            <a:avLst/>
          </a:prstGeom>
          <a:solidFill>
            <a:srgbClr val="D2485B"/>
          </a:solidFill>
          <a:ln w="127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784080" y="2148840"/>
            <a:ext cx="1755648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84080" y="2395728"/>
            <a:ext cx="17556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C996F"/>
                </a:solidFill>
                <a:latin typeface="Consolas"/>
              </a:rPr>
              <a:t>REPORT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30384" y="2743200"/>
            <a:ext cx="14630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B6C84"/>
                </a:solidFill>
                <a:latin typeface="Microsoft YaHei"/>
              </a:rPr>
              <a:t>汇总结果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" y="3986784"/>
            <a:ext cx="93268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0092C3"/>
                </a:solidFill>
                <a:latin typeface="Consolas"/>
              </a:rPr>
              <a:t>状态轨迹</a:t>
            </a:r>
          </a:p>
        </p:txBody>
      </p:sp>
      <p:sp>
        <p:nvSpPr>
          <p:cNvPr id="68" name="Oval 67"/>
          <p:cNvSpPr/>
          <p:nvPr/>
        </p:nvSpPr>
        <p:spPr>
          <a:xfrm>
            <a:off x="1901952" y="3931920"/>
            <a:ext cx="219456" cy="219456"/>
          </a:xfrm>
          <a:prstGeom prst="ellipse">
            <a:avLst/>
          </a:prstGeom>
          <a:solidFill>
            <a:srgbClr val="D7E2EF"/>
          </a:solidFill>
          <a:ln w="381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00784" y="4279392"/>
            <a:ext cx="65836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182D4C"/>
                </a:solidFill>
                <a:latin typeface="Consolas"/>
              </a:rPr>
              <a:t>created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2212848" y="3986784"/>
            <a:ext cx="274320" cy="109728"/>
          </a:xfrm>
          <a:prstGeom prst="rightArrow">
            <a:avLst/>
          </a:prstGeom>
          <a:solidFill>
            <a:srgbClr val="D7E2EF"/>
          </a:solidFill>
          <a:ln w="127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236976" y="3931920"/>
            <a:ext cx="219456" cy="219456"/>
          </a:xfrm>
          <a:prstGeom prst="ellipse">
            <a:avLst/>
          </a:prstGeom>
          <a:solidFill>
            <a:srgbClr val="0092C3"/>
          </a:solidFill>
          <a:ln w="381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35808" y="4279392"/>
            <a:ext cx="65836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182D4C"/>
                </a:solidFill>
                <a:latin typeface="Consolas"/>
              </a:rPr>
              <a:t>scanning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3547872" y="3986784"/>
            <a:ext cx="274320" cy="109728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572000" y="3931920"/>
            <a:ext cx="219456" cy="219456"/>
          </a:xfrm>
          <a:prstGeom prst="ellipse">
            <a:avLst/>
          </a:prstGeom>
          <a:solidFill>
            <a:srgbClr val="2D6CDF"/>
          </a:solidFill>
          <a:ln w="381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70832" y="4279392"/>
            <a:ext cx="65836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182D4C"/>
                </a:solidFill>
                <a:latin typeface="Consolas"/>
              </a:rPr>
              <a:t>analyzing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4882896" y="3986784"/>
            <a:ext cx="274320" cy="109728"/>
          </a:xfrm>
          <a:prstGeom prst="rightArrow">
            <a:avLst/>
          </a:prstGeom>
          <a:solidFill>
            <a:srgbClr val="2D6CDF"/>
          </a:solidFill>
          <a:ln w="127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907024" y="3931920"/>
            <a:ext cx="219456" cy="219456"/>
          </a:xfrm>
          <a:prstGeom prst="ellipse">
            <a:avLst/>
          </a:prstGeom>
          <a:solidFill>
            <a:srgbClr val="6754C4"/>
          </a:solidFill>
          <a:ln w="381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05856" y="4279392"/>
            <a:ext cx="65836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182D4C"/>
                </a:solidFill>
                <a:latin typeface="Consolas"/>
              </a:rPr>
              <a:t>generating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6217920" y="3986784"/>
            <a:ext cx="274320" cy="109728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242048" y="3931920"/>
            <a:ext cx="219456" cy="219456"/>
          </a:xfrm>
          <a:prstGeom prst="ellipse">
            <a:avLst/>
          </a:prstGeom>
          <a:solidFill>
            <a:srgbClr val="1C996F"/>
          </a:solidFill>
          <a:ln w="381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40880" y="4279392"/>
            <a:ext cx="65836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182D4C"/>
                </a:solidFill>
                <a:latin typeface="Consolas"/>
              </a:rPr>
              <a:t>ready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7552944" y="3986784"/>
            <a:ext cx="274320" cy="109728"/>
          </a:xfrm>
          <a:prstGeom prst="rightArrow">
            <a:avLst/>
          </a:prstGeom>
          <a:solidFill>
            <a:srgbClr val="1C996F"/>
          </a:solidFill>
          <a:ln w="127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77072" y="3931920"/>
            <a:ext cx="219456" cy="219456"/>
          </a:xfrm>
          <a:prstGeom prst="ellipse">
            <a:avLst/>
          </a:prstGeom>
          <a:solidFill>
            <a:srgbClr val="D2485B"/>
          </a:solidFill>
          <a:ln w="381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75903" y="4279392"/>
            <a:ext cx="65836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182D4C"/>
                </a:solidFill>
                <a:latin typeface="Consolas"/>
              </a:rPr>
              <a:t>executing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8887967" y="3986784"/>
            <a:ext cx="274320" cy="109728"/>
          </a:xfrm>
          <a:prstGeom prst="rightArrow">
            <a:avLst/>
          </a:prstGeom>
          <a:solidFill>
            <a:srgbClr val="D2485B"/>
          </a:solidFill>
          <a:ln w="127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912096" y="3931920"/>
            <a:ext cx="219456" cy="219456"/>
          </a:xfrm>
          <a:prstGeom prst="ellipse">
            <a:avLst/>
          </a:prstGeom>
          <a:solidFill>
            <a:srgbClr val="1C996F"/>
          </a:solidFill>
          <a:ln w="381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10928" y="4279392"/>
            <a:ext cx="65836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182D4C"/>
                </a:solidFill>
                <a:latin typeface="Consolas"/>
              </a:rPr>
              <a:t>completed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49808" y="4846320"/>
            <a:ext cx="10716768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5840" y="5102352"/>
            <a:ext cx="64008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C996F"/>
                </a:solidFill>
                <a:latin typeface="Microsoft YaHei"/>
              </a:rPr>
              <a:t>已补充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47088" y="5065776"/>
            <a:ext cx="9015984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182D4C"/>
                </a:solidFill>
                <a:latin typeface="Consolas"/>
              </a:rPr>
              <a:t>取消 / 重试 / 失败记录  ·  分析结果持久化  ·  生成 Playbook 关联  ·  pipeline 日志推送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04 / SCAN 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扫描页面：从“点一下跳走”改为“先看清再执行”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05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7863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扫描结果、推荐预案和 AI 生成预案集中在同一页面完成确认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883664"/>
            <a:ext cx="3675887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2157984"/>
            <a:ext cx="1426464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应用目标识别</a:t>
            </a:r>
          </a:p>
        </p:txBody>
      </p:sp>
      <p:sp>
        <p:nvSpPr>
          <p:cNvPr id="50" name="Oval 49"/>
          <p:cNvSpPr/>
          <p:nvPr/>
        </p:nvSpPr>
        <p:spPr>
          <a:xfrm>
            <a:off x="950976" y="2715768"/>
            <a:ext cx="164592" cy="164592"/>
          </a:xfrm>
          <a:prstGeom prst="ellipse">
            <a:avLst/>
          </a:prstGeom>
          <a:solidFill>
            <a:srgbClr val="0092C3"/>
          </a:solidFill>
          <a:ln w="381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80160" y="2670048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Web 应用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8608" y="2670048"/>
            <a:ext cx="12984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通用站点与服务</a:t>
            </a:r>
          </a:p>
        </p:txBody>
      </p:sp>
      <p:sp>
        <p:nvSpPr>
          <p:cNvPr id="53" name="Oval 52"/>
          <p:cNvSpPr/>
          <p:nvPr/>
        </p:nvSpPr>
        <p:spPr>
          <a:xfrm>
            <a:off x="950976" y="3246120"/>
            <a:ext cx="164592" cy="164592"/>
          </a:xfrm>
          <a:prstGeom prst="ellipse">
            <a:avLst/>
          </a:prstGeom>
          <a:solidFill>
            <a:srgbClr val="6754C4"/>
          </a:solidFill>
          <a:ln w="381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0" y="3200400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REST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78608" y="3200400"/>
            <a:ext cx="12984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接口端点与认证</a:t>
            </a:r>
          </a:p>
        </p:txBody>
      </p:sp>
      <p:sp>
        <p:nvSpPr>
          <p:cNvPr id="56" name="Oval 55"/>
          <p:cNvSpPr/>
          <p:nvPr/>
        </p:nvSpPr>
        <p:spPr>
          <a:xfrm>
            <a:off x="950976" y="3776472"/>
            <a:ext cx="164592" cy="164592"/>
          </a:xfrm>
          <a:prstGeom prst="ellipse">
            <a:avLst/>
          </a:prstGeom>
          <a:solidFill>
            <a:srgbClr val="C8840F"/>
          </a:solidFill>
          <a:ln w="381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0" y="3730752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GraphQL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78608" y="3730752"/>
            <a:ext cx="12984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Schema 与查询面</a:t>
            </a:r>
          </a:p>
        </p:txBody>
      </p:sp>
      <p:sp>
        <p:nvSpPr>
          <p:cNvPr id="59" name="Oval 58"/>
          <p:cNvSpPr/>
          <p:nvPr/>
        </p:nvSpPr>
        <p:spPr>
          <a:xfrm>
            <a:off x="950976" y="4306824"/>
            <a:ext cx="164592" cy="164592"/>
          </a:xfrm>
          <a:prstGeom prst="ellipse">
            <a:avLst/>
          </a:prstGeom>
          <a:solidFill>
            <a:srgbClr val="1C996F"/>
          </a:solidFill>
          <a:ln w="381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4261104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SPA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8608" y="4261104"/>
            <a:ext cx="12984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前端路由与资源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" y="4956048"/>
            <a:ext cx="25603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扫描后可动态修正目标类型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45152" y="1883664"/>
            <a:ext cx="6931152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19472" y="2157984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交互链路</a:t>
            </a:r>
          </a:p>
        </p:txBody>
      </p:sp>
      <p:sp>
        <p:nvSpPr>
          <p:cNvPr id="65" name="Oval 64"/>
          <p:cNvSpPr/>
          <p:nvPr/>
        </p:nvSpPr>
        <p:spPr>
          <a:xfrm>
            <a:off x="4937760" y="2944368"/>
            <a:ext cx="384048" cy="384048"/>
          </a:xfrm>
          <a:prstGeom prst="ellipse">
            <a:avLst/>
          </a:prstGeom>
          <a:solidFill>
            <a:srgbClr val="0092C3"/>
          </a:solidFill>
          <a:ln w="508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37760" y="3072384"/>
            <a:ext cx="384048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3493008"/>
            <a:ext cx="69494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82D4C"/>
                </a:solidFill>
                <a:latin typeface="Microsoft YaHei"/>
              </a:rPr>
              <a:t>推荐项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35424" y="3785615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0" i="0">
                <a:solidFill>
                  <a:srgbClr val="5B6C84"/>
                </a:solidFill>
                <a:latin typeface="Microsoft YaHei"/>
              </a:rPr>
              <a:t>点击仅选中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504688" y="3090672"/>
            <a:ext cx="402336" cy="146304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47104" y="2944368"/>
            <a:ext cx="384048" cy="384048"/>
          </a:xfrm>
          <a:prstGeom prst="ellipse">
            <a:avLst/>
          </a:prstGeom>
          <a:solidFill>
            <a:srgbClr val="2D6CDF"/>
          </a:solidFill>
          <a:ln w="508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47104" y="3072384"/>
            <a:ext cx="384048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3493008"/>
            <a:ext cx="69494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82D4C"/>
                </a:solidFill>
                <a:latin typeface="Microsoft YaHei"/>
              </a:rPr>
              <a:t>详情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44768" y="3785615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0" i="0">
                <a:solidFill>
                  <a:srgbClr val="5B6C84"/>
                </a:solidFill>
                <a:latin typeface="Microsoft YaHei"/>
              </a:rPr>
              <a:t>查看步骤与说明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7114032" y="3090672"/>
            <a:ext cx="402336" cy="146304"/>
          </a:xfrm>
          <a:prstGeom prst="rightArrow">
            <a:avLst/>
          </a:prstGeom>
          <a:solidFill>
            <a:srgbClr val="2D6CDF"/>
          </a:solidFill>
          <a:ln w="127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156448" y="2944368"/>
            <a:ext cx="384048" cy="384048"/>
          </a:xfrm>
          <a:prstGeom prst="ellipse">
            <a:avLst/>
          </a:prstGeom>
          <a:solidFill>
            <a:srgbClr val="6754C4"/>
          </a:solidFill>
          <a:ln w="508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56448" y="3072384"/>
            <a:ext cx="384048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10144" y="3493008"/>
            <a:ext cx="69494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82D4C"/>
                </a:solidFill>
                <a:latin typeface="Microsoft YaHei"/>
              </a:rPr>
              <a:t>AI 生成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4112" y="3785615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0" i="0">
                <a:solidFill>
                  <a:srgbClr val="5B6C84"/>
                </a:solidFill>
                <a:latin typeface="Microsoft YaHei"/>
              </a:rPr>
              <a:t>生成后先预览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8723376" y="3090672"/>
            <a:ext cx="402336" cy="146304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65792" y="2944368"/>
            <a:ext cx="384048" cy="384048"/>
          </a:xfrm>
          <a:prstGeom prst="ellipse">
            <a:avLst/>
          </a:prstGeom>
          <a:solidFill>
            <a:srgbClr val="1C996F"/>
          </a:solidFill>
          <a:ln w="508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65792" y="3072384"/>
            <a:ext cx="384048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19488" y="3493008"/>
            <a:ext cx="69494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82D4C"/>
                </a:solidFill>
                <a:latin typeface="Microsoft YaHei"/>
              </a:rPr>
              <a:t>前往执行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63456" y="3785615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0" i="0">
                <a:solidFill>
                  <a:srgbClr val="5B6C84"/>
                </a:solidFill>
                <a:latin typeface="Microsoft YaHei"/>
              </a:rPr>
              <a:t>确认后跳转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937760" y="4736592"/>
            <a:ext cx="6126480" cy="493776"/>
          </a:xfrm>
          <a:prstGeom prst="roundRect">
            <a:avLst/>
          </a:prstGeom>
          <a:solidFill>
            <a:srgbClr val="EFF6FC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57216" y="4882896"/>
            <a:ext cx="568756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6754C4"/>
                </a:solidFill>
                <a:latin typeface="Consolas"/>
              </a:rPr>
              <a:t>whatweb/httpx · arjun/ffuf · nuclei 认证模板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05 / REACT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智能执行：把每一步结果变成下一步决策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06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9326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强化探索模式、启发式插入、失败转向和安全约束，并在前端展示推理证据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865376"/>
            <a:ext cx="6492240" cy="371246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42415" y="2761488"/>
            <a:ext cx="1481328" cy="566928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5" y="2935224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82D4C"/>
                </a:solidFill>
                <a:latin typeface="Microsoft YaHei"/>
              </a:rPr>
              <a:t>执行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44368" y="2761488"/>
            <a:ext cx="1481328" cy="566928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44368" y="2935224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82D4C"/>
                </a:solidFill>
                <a:latin typeface="Microsoft YaHei"/>
              </a:rPr>
              <a:t>观察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44368" y="4187952"/>
            <a:ext cx="1481328" cy="566928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44368" y="4361688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82D4C"/>
                </a:solidFill>
                <a:latin typeface="Microsoft YaHei"/>
              </a:rPr>
              <a:t>思考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2415" y="4187952"/>
            <a:ext cx="1481328" cy="566928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2415" y="4361688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82D4C"/>
                </a:solidFill>
                <a:latin typeface="Microsoft YaHei"/>
              </a:rPr>
              <a:t>行动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2578608" y="2944368"/>
            <a:ext cx="310896" cy="146304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ight Arrow 57"/>
          <p:cNvSpPr/>
          <p:nvPr/>
        </p:nvSpPr>
        <p:spPr>
          <a:xfrm>
            <a:off x="3547872" y="3602736"/>
            <a:ext cx="146304" cy="310896"/>
          </a:xfrm>
          <a:prstGeom prst="rightArrow">
            <a:avLst/>
          </a:prstGeom>
          <a:solidFill>
            <a:srgbClr val="2D6CDF"/>
          </a:solidFill>
          <a:ln w="127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2578608" y="4370832"/>
            <a:ext cx="310896" cy="146304"/>
          </a:xfrm>
          <a:prstGeom prst="rightArrow">
            <a:avLst/>
          </a:prstGeom>
          <a:solidFill>
            <a:srgbClr val="D2485B"/>
          </a:solidFill>
          <a:ln w="127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ight Arrow 59"/>
          <p:cNvSpPr/>
          <p:nvPr/>
        </p:nvSpPr>
        <p:spPr>
          <a:xfrm>
            <a:off x="1627632" y="3602736"/>
            <a:ext cx="146304" cy="310896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102352"/>
            <a:ext cx="53035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D2485B"/>
                </a:solidFill>
                <a:latin typeface="Consolas"/>
              </a:rPr>
              <a:t>continue · adjust · insert · pivot · stop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79792" y="1865376"/>
            <a:ext cx="4096512" cy="371246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54112" y="2139696"/>
            <a:ext cx="17373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Microsoft YaHei"/>
              </a:rPr>
              <a:t>执行详情可视化</a:t>
            </a:r>
          </a:p>
        </p:txBody>
      </p:sp>
      <p:sp>
        <p:nvSpPr>
          <p:cNvPr id="64" name="Oval 63"/>
          <p:cNvSpPr/>
          <p:nvPr/>
        </p:nvSpPr>
        <p:spPr>
          <a:xfrm>
            <a:off x="7790688" y="2770632"/>
            <a:ext cx="146304" cy="146304"/>
          </a:xfrm>
          <a:prstGeom prst="ellipse">
            <a:avLst/>
          </a:prstGeom>
          <a:solidFill>
            <a:srgbClr val="6754C4"/>
          </a:solidFill>
          <a:ln w="381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83296" y="2724912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Cortex 决策面板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2724912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Microsoft YaHei"/>
              </a:rPr>
              <a:t>Observation / Thought / Action</a:t>
            </a:r>
          </a:p>
        </p:txBody>
      </p:sp>
      <p:sp>
        <p:nvSpPr>
          <p:cNvPr id="67" name="Oval 66"/>
          <p:cNvSpPr/>
          <p:nvPr/>
        </p:nvSpPr>
        <p:spPr>
          <a:xfrm>
            <a:off x="7790688" y="3337560"/>
            <a:ext cx="146304" cy="146304"/>
          </a:xfrm>
          <a:prstGeom prst="ellipse">
            <a:avLst/>
          </a:prstGeom>
          <a:solidFill>
            <a:srgbClr val="0092C3"/>
          </a:solidFill>
          <a:ln w="381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83296" y="3291840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步骤执行表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3291840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Microsoft YaHei"/>
              </a:rPr>
              <a:t>工具、参数、成功与输出摘要</a:t>
            </a:r>
          </a:p>
        </p:txBody>
      </p:sp>
      <p:sp>
        <p:nvSpPr>
          <p:cNvPr id="70" name="Oval 69"/>
          <p:cNvSpPr/>
          <p:nvPr/>
        </p:nvSpPr>
        <p:spPr>
          <a:xfrm>
            <a:off x="7790688" y="3904487"/>
            <a:ext cx="146304" cy="146304"/>
          </a:xfrm>
          <a:prstGeom prst="ellipse">
            <a:avLst/>
          </a:prstGeom>
          <a:solidFill>
            <a:srgbClr val="1C996F"/>
          </a:solidFill>
          <a:ln w="381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83296" y="3858768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攻击证据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385876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Microsoft YaHei"/>
              </a:rPr>
              <a:t>载荷、证据记录与结果关联</a:t>
            </a:r>
          </a:p>
        </p:txBody>
      </p:sp>
      <p:sp>
        <p:nvSpPr>
          <p:cNvPr id="73" name="Oval 72"/>
          <p:cNvSpPr/>
          <p:nvPr/>
        </p:nvSpPr>
        <p:spPr>
          <a:xfrm>
            <a:off x="7790688" y="4471416"/>
            <a:ext cx="146304" cy="146304"/>
          </a:xfrm>
          <a:prstGeom prst="ellipse">
            <a:avLst/>
          </a:prstGeom>
          <a:solidFill>
            <a:srgbClr val="C8840F"/>
          </a:solidFill>
          <a:ln w="381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83296" y="4425696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安全阀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4080" y="4425696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Microsoft YaHei"/>
              </a:rPr>
              <a:t>调用上限、黑名单、沙箱约束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06 / 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评估输出：报告与网络捕获入口同步补齐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07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7863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从执行记录、网络流量到最终报告，形成可回看的评估链路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" y="1993392"/>
            <a:ext cx="215798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221284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执行记录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" y="2542032"/>
            <a:ext cx="175564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run / evidence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3035808" y="2450592"/>
            <a:ext cx="384048" cy="164592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566160" y="1993392"/>
            <a:ext cx="215798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30752" y="221284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网络捕获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30752" y="2542032"/>
            <a:ext cx="175564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任务 / PCAP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797296" y="2450592"/>
            <a:ext cx="384048" cy="164592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327648" y="1993392"/>
            <a:ext cx="215798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221284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捕获分析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2542032"/>
            <a:ext cx="175564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协议 / 会话 / 异常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8558784" y="2450592"/>
            <a:ext cx="384048" cy="164592"/>
          </a:xfrm>
          <a:prstGeom prst="rightArrow">
            <a:avLst/>
          </a:prstGeom>
          <a:solidFill>
            <a:srgbClr val="2D6CDF"/>
          </a:solidFill>
          <a:ln w="127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89136" y="1993392"/>
            <a:ext cx="215798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221284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测试报告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53728" y="2542032"/>
            <a:ext cx="175564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预览 / 导出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" y="3749039"/>
            <a:ext cx="2157984" cy="1225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3986784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2D4C"/>
                </a:solidFill>
                <a:latin typeface="Microsoft YaHei"/>
              </a:rPr>
              <a:t>报告预览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" y="43708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JSON ↔ HTML 双模式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75887" y="3749039"/>
            <a:ext cx="2157984" cy="1225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79" y="3986784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2D4C"/>
                </a:solidFill>
                <a:latin typeface="Microsoft YaHei"/>
              </a:rPr>
              <a:t>多格式导出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79" y="43708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DOCX / PDF / HTML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47104" y="3749039"/>
            <a:ext cx="2157984" cy="1225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11696" y="3986784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2D4C"/>
                </a:solidFill>
                <a:latin typeface="Microsoft YaHei"/>
              </a:rPr>
              <a:t>WPS 打开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11696" y="43708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导出后直接打开编辑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18320" y="3749039"/>
            <a:ext cx="2157984" cy="1225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82912" y="3986784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2D4C"/>
                </a:solidFill>
                <a:latin typeface="Microsoft YaHei"/>
              </a:rPr>
              <a:t>捕获分析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82912" y="43708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Consolas"/>
              </a:rPr>
              <a:t>tcpdump / tshark 统计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4672" y="5321808"/>
            <a:ext cx="10771632" cy="493776"/>
          </a:xfrm>
          <a:prstGeom prst="roundRect">
            <a:avLst/>
          </a:prstGeom>
          <a:solidFill>
            <a:srgbClr val="EFF6FC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4128" y="5477256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C8840F"/>
                </a:solidFill>
                <a:latin typeface="Microsoft YaHei"/>
              </a:rPr>
              <a:t>现状：前端入口、任务生命周期、分析服务和导出服务已补齐；目标环境仍需继续联调。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07 / VISUALIZATION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拓扑与总览：把“发生了什么”展示出来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08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8229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新增拓扑探测/绘制交互与安全运营总览，便于演示时快速定位状态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883664"/>
            <a:ext cx="5193792" cy="3602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2139696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Microsoft YaHei"/>
              </a:rPr>
              <a:t>网络拓扑探测与绘制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" y="2523744"/>
            <a:ext cx="422452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0092C3"/>
                </a:solidFill>
                <a:latin typeface="Consolas"/>
              </a:rPr>
              <a:t>扫描任务 → 智能生成拓扑 → 画布编辑 → 保存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1499616" y="3310128"/>
            <a:ext cx="1097280" cy="786384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596896" y="3310128"/>
            <a:ext cx="1225295" cy="859535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596896" y="3108960"/>
            <a:ext cx="1901952" cy="201168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280160" y="3913632"/>
            <a:ext cx="438912" cy="438912"/>
          </a:xfrm>
          <a:prstGeom prst="ellipse">
            <a:avLst/>
          </a:prstGeom>
          <a:solidFill>
            <a:srgbClr val="C8840F"/>
          </a:solidFill>
          <a:ln w="508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80160" y="4078224"/>
            <a:ext cx="438912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GW</a:t>
            </a:r>
          </a:p>
        </p:txBody>
      </p:sp>
      <p:sp>
        <p:nvSpPr>
          <p:cNvPr id="56" name="Oval 55"/>
          <p:cNvSpPr/>
          <p:nvPr/>
        </p:nvSpPr>
        <p:spPr>
          <a:xfrm>
            <a:off x="2359152" y="3072384"/>
            <a:ext cx="438912" cy="438912"/>
          </a:xfrm>
          <a:prstGeom prst="ellipse">
            <a:avLst/>
          </a:prstGeom>
          <a:solidFill>
            <a:srgbClr val="0092C3"/>
          </a:solidFill>
          <a:ln w="508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59152" y="3236976"/>
            <a:ext cx="438912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APP</a:t>
            </a:r>
          </a:p>
        </p:txBody>
      </p:sp>
      <p:sp>
        <p:nvSpPr>
          <p:cNvPr id="58" name="Oval 57"/>
          <p:cNvSpPr/>
          <p:nvPr/>
        </p:nvSpPr>
        <p:spPr>
          <a:xfrm>
            <a:off x="3602736" y="3986784"/>
            <a:ext cx="438912" cy="438912"/>
          </a:xfrm>
          <a:prstGeom prst="ellipse">
            <a:avLst/>
          </a:prstGeom>
          <a:solidFill>
            <a:srgbClr val="6754C4"/>
          </a:solidFill>
          <a:ln w="508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02736" y="4151376"/>
            <a:ext cx="438912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DB</a:t>
            </a:r>
          </a:p>
        </p:txBody>
      </p:sp>
      <p:sp>
        <p:nvSpPr>
          <p:cNvPr id="60" name="Oval 59"/>
          <p:cNvSpPr/>
          <p:nvPr/>
        </p:nvSpPr>
        <p:spPr>
          <a:xfrm>
            <a:off x="4279392" y="2907792"/>
            <a:ext cx="438912" cy="438912"/>
          </a:xfrm>
          <a:prstGeom prst="ellipse">
            <a:avLst/>
          </a:prstGeom>
          <a:solidFill>
            <a:srgbClr val="1C996F"/>
          </a:solidFill>
          <a:ln w="508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9392" y="3072384"/>
            <a:ext cx="438912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API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" y="4882896"/>
            <a:ext cx="331012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节点 / 连线 / 服务 / 状态均可编辑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44768" y="1883664"/>
            <a:ext cx="5431536" cy="3602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9088" y="213969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Microsoft YaHei"/>
              </a:rPr>
              <a:t>安全运营总览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19088" y="2724912"/>
            <a:ext cx="2121408" cy="658368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65392" y="2871216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0092C3"/>
                </a:solidFill>
                <a:latin typeface="Microsoft YaHei"/>
              </a:rPr>
              <a:t>扫描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51775" y="2907792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任务统计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851392" y="2724912"/>
            <a:ext cx="2121408" cy="658368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97696" y="2871216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D2485B"/>
                </a:solidFill>
                <a:latin typeface="Microsoft YaHei"/>
              </a:rPr>
              <a:t>执行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2907792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实时活动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19088" y="3621024"/>
            <a:ext cx="2121408" cy="658368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65392" y="3767328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996F"/>
                </a:solidFill>
                <a:latin typeface="Microsoft YaHei"/>
              </a:rPr>
              <a:t>报告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51775" y="3803904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结果沉淀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851392" y="3621024"/>
            <a:ext cx="2121408" cy="658368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97696" y="3767328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6754C4"/>
                </a:solidFill>
                <a:latin typeface="Microsoft YaHei"/>
              </a:rPr>
              <a:t>连接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3803904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WebSocket 状态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19088" y="4937760"/>
            <a:ext cx="431596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754C4"/>
                </a:solidFill>
                <a:latin typeface="Microsoft YaHei"/>
              </a:rPr>
              <a:t>总览页接入扫描 / 执行事件，页面可按角色显示。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08 /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管理与自检：让新增功能可配置、可验证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09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8778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本阶段同步补齐权限配置、靶场自检与页面联动，降低演示准备成本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901952"/>
            <a:ext cx="5065776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" y="2167128"/>
            <a:ext cx="310896" cy="310896"/>
          </a:xfrm>
          <a:prstGeom prst="ellipse">
            <a:avLst/>
          </a:prstGeom>
          <a:solidFill>
            <a:srgbClr val="0092C3"/>
          </a:solidFill>
          <a:ln w="508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" y="2267712"/>
            <a:ext cx="310896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9888" y="208483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权限矩阵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9888" y="2414016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可视化配置模块读写权限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44768" y="1901952"/>
            <a:ext cx="5065776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45936" y="2167128"/>
            <a:ext cx="310896" cy="310896"/>
          </a:xfrm>
          <a:prstGeom prst="ellipse">
            <a:avLst/>
          </a:prstGeom>
          <a:solidFill>
            <a:srgbClr val="1C996F"/>
          </a:solidFill>
          <a:ln w="508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2267712"/>
            <a:ext cx="310896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208483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靶场管理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76288" y="2414016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启动 / 停止 / 自检工具链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3182112"/>
            <a:ext cx="5065776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59536" y="3447288"/>
            <a:ext cx="310896" cy="310896"/>
          </a:xfrm>
          <a:prstGeom prst="ellipse">
            <a:avLst/>
          </a:prstGeom>
          <a:solidFill>
            <a:srgbClr val="6754C4"/>
          </a:solidFill>
          <a:ln w="508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" y="3547872"/>
            <a:ext cx="310896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89888" y="336499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页面联动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89888" y="3694176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角色化导航与跨页刷新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44768" y="3182112"/>
            <a:ext cx="5065776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45936" y="3447288"/>
            <a:ext cx="310896" cy="310896"/>
          </a:xfrm>
          <a:prstGeom prst="ellipse">
            <a:avLst/>
          </a:prstGeom>
          <a:solidFill>
            <a:srgbClr val="C8840F"/>
          </a:solidFill>
          <a:ln w="508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45936" y="3547872"/>
            <a:ext cx="310896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7FAFD"/>
                </a:solidFill>
                <a:latin typeface="Consolas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76288" y="336499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安全约束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76288" y="3694176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输入校验、审计与权限守卫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4846320"/>
            <a:ext cx="10552176" cy="713232"/>
          </a:xfrm>
          <a:prstGeom prst="roundRect">
            <a:avLst/>
          </a:prstGeom>
          <a:solidFill>
            <a:srgbClr val="EFF6FC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5102352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0092C3"/>
                </a:solidFill>
                <a:latin typeface="Consolas"/>
              </a:rPr>
              <a:t>演示准备链</a:t>
            </a:r>
          </a:p>
        </p:txBody>
      </p:sp>
      <p:sp>
        <p:nvSpPr>
          <p:cNvPr id="70" name="Oval 69"/>
          <p:cNvSpPr/>
          <p:nvPr/>
        </p:nvSpPr>
        <p:spPr>
          <a:xfrm>
            <a:off x="2157984" y="5047488"/>
            <a:ext cx="219456" cy="219456"/>
          </a:xfrm>
          <a:prstGeom prst="ellipse">
            <a:avLst/>
          </a:prstGeom>
          <a:solidFill>
            <a:srgbClr val="0092C3"/>
          </a:solidFill>
          <a:ln w="381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05456" y="506577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82D4C"/>
                </a:solidFill>
                <a:latin typeface="Microsoft YaHei"/>
              </a:rPr>
              <a:t>登录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3145536" y="5102352"/>
            <a:ext cx="292608" cy="109728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785615" y="5047488"/>
            <a:ext cx="219456" cy="219456"/>
          </a:xfrm>
          <a:prstGeom prst="ellipse">
            <a:avLst/>
          </a:prstGeom>
          <a:solidFill>
            <a:srgbClr val="2D6CDF"/>
          </a:solidFill>
          <a:ln w="381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33087" y="506577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82D4C"/>
                </a:solidFill>
                <a:latin typeface="Microsoft YaHei"/>
              </a:rPr>
              <a:t>扫描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4773168" y="5102352"/>
            <a:ext cx="292608" cy="109728"/>
          </a:xfrm>
          <a:prstGeom prst="rightArrow">
            <a:avLst/>
          </a:prstGeom>
          <a:solidFill>
            <a:srgbClr val="2D6CDF"/>
          </a:solidFill>
          <a:ln w="127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413248" y="5047488"/>
            <a:ext cx="219456" cy="219456"/>
          </a:xfrm>
          <a:prstGeom prst="ellipse">
            <a:avLst/>
          </a:prstGeom>
          <a:solidFill>
            <a:srgbClr val="6754C4"/>
          </a:solidFill>
          <a:ln w="381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60720" y="506577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82D4C"/>
                </a:solidFill>
                <a:latin typeface="Microsoft YaHei"/>
              </a:rPr>
              <a:t>推荐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6400800" y="5102352"/>
            <a:ext cx="292608" cy="109728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040879" y="5047488"/>
            <a:ext cx="219456" cy="219456"/>
          </a:xfrm>
          <a:prstGeom prst="ellipse">
            <a:avLst/>
          </a:prstGeom>
          <a:solidFill>
            <a:srgbClr val="D2485B"/>
          </a:solidFill>
          <a:ln w="381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88352" y="506577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82D4C"/>
                </a:solidFill>
                <a:latin typeface="Microsoft YaHei"/>
              </a:rPr>
              <a:t>执行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8028431" y="5102352"/>
            <a:ext cx="292608" cy="109728"/>
          </a:xfrm>
          <a:prstGeom prst="rightArrow">
            <a:avLst/>
          </a:prstGeom>
          <a:solidFill>
            <a:srgbClr val="D2485B"/>
          </a:solidFill>
          <a:ln w="127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668512" y="5047488"/>
            <a:ext cx="219456" cy="219456"/>
          </a:xfrm>
          <a:prstGeom prst="ellipse">
            <a:avLst/>
          </a:prstGeom>
          <a:solidFill>
            <a:srgbClr val="1C996F"/>
          </a:solidFill>
          <a:ln w="381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15984" y="5065776"/>
            <a:ext cx="74980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82D4C"/>
                </a:solidFill>
                <a:latin typeface="Microsoft YaHei"/>
              </a:rPr>
              <a:t>报告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" y="5833872"/>
            <a:ext cx="10552176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C996F"/>
                </a:solidFill>
                <a:latin typeface="Microsoft YaHei"/>
              </a:rPr>
              <a:t>当前状态：核心页面与后端能力已连接，正在持续做现场环境联调。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09 / SUMMARY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本阶段小结：功能从“分散可用”走向“连贯可演示”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10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8229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8 月 30 日以来，主要完成了三件事：补模型、串链路、做展示。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" y="2029968"/>
            <a:ext cx="3255264" cy="14264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2304288"/>
            <a:ext cx="117043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Microsoft YaHei"/>
              </a:rPr>
              <a:t>补模型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" y="2724912"/>
            <a:ext cx="2706624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Campaign / Pipeline / Capture 数据模型与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98848" y="2029968"/>
            <a:ext cx="3255264" cy="14264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18304" y="2304288"/>
            <a:ext cx="117043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Microsoft YaHei"/>
              </a:rPr>
              <a:t>串链路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18304" y="2724912"/>
            <a:ext cx="2706624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扫描 → 分析 → 生成 → 执行 → 报告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2029968"/>
            <a:ext cx="3255264" cy="14264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49056" y="2304288"/>
            <a:ext cx="117043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Microsoft YaHei"/>
              </a:rPr>
              <a:t>做展示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9056" y="2724912"/>
            <a:ext cx="2706624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ScanPage / Campaign / 拓扑 / 总览大屏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" y="3931920"/>
            <a:ext cx="10808208" cy="1316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2415" y="4206240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下一步重点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87168" y="4187952"/>
            <a:ext cx="83941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① 完成 Pipeline 一站式页面与端到端演示  ·  ② 继续验证抓包与评估链路  ·  ③ 固化拓扑和应用目标演示脚本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" y="5705856"/>
            <a:ext cx="1080820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092C3"/>
                </a:solidFill>
                <a:latin typeface="Microsoft YaHei"/>
              </a:rPr>
              <a:t>汇报建议：按照“扫描 → 推荐 → 执行 → 证据 → 报告”主线现场演示。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