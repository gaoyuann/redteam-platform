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0" r:id="rId3"/>
    <p:sldId id="411" r:id="rId5"/>
    <p:sldId id="941" r:id="rId6"/>
    <p:sldId id="537" r:id="rId7"/>
    <p:sldId id="938" r:id="rId8"/>
    <p:sldId id="978" r:id="rId9"/>
    <p:sldId id="551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羽芃" initials="陈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93E3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5" autoAdjust="0"/>
    <p:restoredTop sz="84332" autoAdjust="0"/>
  </p:normalViewPr>
  <p:slideViewPr>
    <p:cSldViewPr snapToGrid="0" showGuides="1">
      <p:cViewPr varScale="1">
        <p:scale>
          <a:sx n="80" d="100"/>
          <a:sy n="80" d="100"/>
        </p:scale>
        <p:origin x="773" y="62"/>
      </p:cViewPr>
      <p:guideLst>
        <p:guide orient="horz" pos="2205"/>
        <p:guide pos="39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69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1.pn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/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/>
            <p:cNvSpPr/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/>
            <p:cNvSpPr/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/>
            <p:cNvSpPr/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/>
            <p:cNvSpPr/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/>
            <p:cNvSpPr/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/>
            <p:cNvSpPr/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/>
            <p:cNvSpPr/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/>
            <p:cNvSpPr/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/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/>
            <p:cNvSpPr/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/>
            <p:cNvSpPr/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/>
            <p:cNvSpPr/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/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/>
            <p:cNvSpPr/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/>
            <p:cNvSpPr/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/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/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/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/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/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/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/>
          <p:cNvSpPr/>
          <p:nvPr userDrawn="1"/>
        </p:nvSpPr>
        <p:spPr>
          <a:xfrm flipV="1">
            <a:off x="5143364" y="3558304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00000000000000000" pitchFamily="2" charset="-122"/>
                <a:ea typeface="方正大标宋简体" panose="02000000000000000000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821803" y="1047511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/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/>
          <p:cNvCxnSpPr/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 userDrawn="1"/>
        </p:nvGrpSpPr>
        <p:grpSpPr>
          <a:xfrm>
            <a:off x="839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/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/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00000000000000000" pitchFamily="2" charset="-122"/>
                  <a:ea typeface="方正大标宋简体" panose="02000000000000000000" pitchFamily="2" charset="-122"/>
                </a:rPr>
                <a:t>目录</a:t>
              </a:r>
              <a:endParaRPr lang="zh-CN" altLang="en-US" sz="6600" spc="600" dirty="0">
                <a:solidFill>
                  <a:schemeClr val="accent1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>
                <a:fillRect/>
              </a:stretch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/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/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-1" fmla="*/ 0 w 1625778"/>
              <a:gd name="connsiteY0-2" fmla="*/ 1401532 h 1401532"/>
              <a:gd name="connsiteX1-3" fmla="*/ 812889 w 1625778"/>
              <a:gd name="connsiteY1-4" fmla="*/ 0 h 1401532"/>
              <a:gd name="connsiteX2-5" fmla="*/ 1625778 w 1625778"/>
              <a:gd name="connsiteY2-6" fmla="*/ 1401532 h 1401532"/>
              <a:gd name="connsiteX3-7" fmla="*/ 0 w 1625778"/>
              <a:gd name="connsiteY3-8" fmla="*/ 1401532 h 1401532"/>
              <a:gd name="connsiteX0-9" fmla="*/ 0 w 1625778"/>
              <a:gd name="connsiteY0-10" fmla="*/ 1401532 h 1401532"/>
              <a:gd name="connsiteX1-11" fmla="*/ 812889 w 1625778"/>
              <a:gd name="connsiteY1-12" fmla="*/ 0 h 1401532"/>
              <a:gd name="connsiteX2-13" fmla="*/ 1625778 w 1625778"/>
              <a:gd name="connsiteY2-14" fmla="*/ 1401532 h 1401532"/>
              <a:gd name="connsiteX3-15" fmla="*/ 0 w 1625778"/>
              <a:gd name="connsiteY3-16" fmla="*/ 1401532 h 14015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 panose="02000000000000000000" pitchFamily="2" charset="-122"/>
                <a:ea typeface="方正大标宋简体" panose="02000000000000000000" pitchFamily="2" charset="-122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  <a:endParaRPr lang="zh-CN" altLang="en-US" sz="10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/>
          <p:cNvCxnSpPr/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图片占位符 74"/>
          <p:cNvSpPr>
            <a:spLocks noGrp="1"/>
          </p:cNvSpPr>
          <p:nvPr>
            <p:ph type="pic" sz="quarter" idx="10" hasCustomPrompt="1"/>
          </p:nvPr>
        </p:nvSpPr>
        <p:spPr>
          <a:xfrm>
            <a:off x="621060" y="2026957"/>
            <a:ext cx="5388854" cy="3579165"/>
          </a:xfrm>
          <a:custGeom>
            <a:avLst/>
            <a:gdLst>
              <a:gd name="connsiteX0" fmla="*/ 0 w 3370863"/>
              <a:gd name="connsiteY0" fmla="*/ 0 h 2238857"/>
              <a:gd name="connsiteX1" fmla="*/ 3370863 w 3370863"/>
              <a:gd name="connsiteY1" fmla="*/ 0 h 2238857"/>
              <a:gd name="connsiteX2" fmla="*/ 3370863 w 3370863"/>
              <a:gd name="connsiteY2" fmla="*/ 2238857 h 2238857"/>
              <a:gd name="connsiteX3" fmla="*/ 0 w 3370863"/>
              <a:gd name="connsiteY3" fmla="*/ 2238857 h 223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0863" h="2238857">
                <a:moveTo>
                  <a:pt x="0" y="0"/>
                </a:moveTo>
                <a:lnTo>
                  <a:pt x="3370863" y="0"/>
                </a:lnTo>
                <a:lnTo>
                  <a:pt x="3370863" y="2238857"/>
                </a:lnTo>
                <a:lnTo>
                  <a:pt x="0" y="22388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单机中间图标添加图片</a:t>
            </a:r>
            <a:endParaRPr lang="zh-CN" altLang="en-US" dirty="0"/>
          </a:p>
        </p:txBody>
      </p: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这是单项图文页版式</a:t>
            </a:r>
            <a:endParaRPr lang="zh-CN" altLang="en-US" dirty="0"/>
          </a:p>
        </p:txBody>
      </p:sp>
      <p:sp>
        <p:nvSpPr>
          <p:cNvPr id="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背景2-图书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" name="直接连接符 85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166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37"/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三人团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多项团队介绍页版式</a:t>
            </a:r>
            <a:endParaRPr lang="zh-CN" altLang="en-US" dirty="0"/>
          </a:p>
        </p:txBody>
      </p:sp>
      <p:sp>
        <p:nvSpPr>
          <p:cNvPr id="69" name="图片占位符 68"/>
          <p:cNvSpPr>
            <a:spLocks noGrp="1"/>
          </p:cNvSpPr>
          <p:nvPr>
            <p:ph type="pic" sz="quarter" idx="10"/>
          </p:nvPr>
        </p:nvSpPr>
        <p:spPr>
          <a:xfrm>
            <a:off x="1562470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图片占位符 70"/>
          <p:cNvSpPr>
            <a:spLocks noGrp="1"/>
          </p:cNvSpPr>
          <p:nvPr>
            <p:ph type="pic" sz="quarter" idx="11"/>
          </p:nvPr>
        </p:nvSpPr>
        <p:spPr>
          <a:xfrm>
            <a:off x="5212159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09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10" y="1767682"/>
                  <a:pt x="0" y="1371973"/>
                  <a:pt x="0" y="883841"/>
                </a:cubicBezTo>
                <a:cubicBezTo>
                  <a:pt x="0" y="395709"/>
                  <a:pt x="395710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5" name="图片占位符 74"/>
          <p:cNvSpPr>
            <a:spLocks noGrp="1"/>
          </p:cNvSpPr>
          <p:nvPr>
            <p:ph type="pic" sz="quarter" idx="12"/>
          </p:nvPr>
        </p:nvSpPr>
        <p:spPr>
          <a:xfrm>
            <a:off x="8861848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二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  <p:grpSp>
        <p:nvGrpSpPr>
          <p:cNvPr id="68" name="组合 4"/>
          <p:cNvGrpSpPr/>
          <p:nvPr userDrawn="1"/>
        </p:nvGrpSpPr>
        <p:grpSpPr bwMode="auto">
          <a:xfrm>
            <a:off x="713393" y="904031"/>
            <a:ext cx="11400791" cy="79260"/>
            <a:chOff x="628642" y="0"/>
            <a:chExt cx="27229910" cy="6858000"/>
          </a:xfrm>
        </p:grpSpPr>
        <p:sp>
          <p:nvSpPr>
            <p:cNvPr id="70" name="平行四边形 69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1" name="平行四边形 70"/>
            <p:cNvSpPr/>
            <p:nvPr/>
          </p:nvSpPr>
          <p:spPr>
            <a:xfrm flipH="1">
              <a:off x="875311" y="0"/>
              <a:ext cx="7184226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2" name="平行四边形 13"/>
            <p:cNvSpPr/>
            <p:nvPr/>
          </p:nvSpPr>
          <p:spPr>
            <a:xfrm flipH="1">
              <a:off x="1507399" y="0"/>
              <a:ext cx="6239946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-1" fmla="*/ 0 w 6240991"/>
                <a:gd name="connsiteY0-2" fmla="*/ 6858000 h 6858000"/>
                <a:gd name="connsiteX1-3" fmla="*/ 2886624 w 6240991"/>
                <a:gd name="connsiteY1-4" fmla="*/ 0 h 6858000"/>
                <a:gd name="connsiteX2-5" fmla="*/ 6240991 w 6240991"/>
                <a:gd name="connsiteY2-6" fmla="*/ 9525 h 6858000"/>
                <a:gd name="connsiteX3-7" fmla="*/ 3897292 w 6240991"/>
                <a:gd name="connsiteY3-8" fmla="*/ 6858000 h 6858000"/>
                <a:gd name="connsiteX4-9" fmla="*/ 0 w 6240991"/>
                <a:gd name="connsiteY4-10" fmla="*/ 685800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77" name="文本占位符 15"/>
          <p:cNvSpPr>
            <a:spLocks noGrp="1"/>
          </p:cNvSpPr>
          <p:nvPr>
            <p:ph type="body" sz="quarter" idx="10"/>
          </p:nvPr>
        </p:nvSpPr>
        <p:spPr>
          <a:xfrm>
            <a:off x="963503" y="185373"/>
            <a:ext cx="5491281" cy="53863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78" name="Picture 5" descr="D:\用户目录\Pictures\校徽等\校徽 --纯白色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7817" y="68400"/>
            <a:ext cx="807274" cy="9049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860" y="224985"/>
            <a:ext cx="4756253" cy="574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68.xml"/><Relationship Id="rId24" Type="http://schemas.openxmlformats.org/officeDocument/2006/relationships/tags" Target="../tags/tag67.xml"/><Relationship Id="rId23" Type="http://schemas.openxmlformats.org/officeDocument/2006/relationships/tags" Target="../tags/tag66.xml"/><Relationship Id="rId22" Type="http://schemas.openxmlformats.org/officeDocument/2006/relationships/tags" Target="../tags/tag65.xml"/><Relationship Id="rId21" Type="http://schemas.openxmlformats.org/officeDocument/2006/relationships/tags" Target="../tags/tag64.xml"/><Relationship Id="rId20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42" y="3990522"/>
            <a:ext cx="7310128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WordArt 4"/>
          <p:cNvSpPr>
            <a:spLocks noChangeArrowheads="1" noChangeShapeType="1" noTextEdit="1"/>
          </p:cNvSpPr>
          <p:nvPr/>
        </p:nvSpPr>
        <p:spPr bwMode="gray">
          <a:xfrm>
            <a:off x="5897840" y="4348734"/>
            <a:ext cx="1232453" cy="266917"/>
          </a:xfrm>
          <a:prstGeom prst="rect">
            <a:avLst/>
          </a:prstGeom>
        </p:spPr>
        <p:txBody>
          <a:bodyPr wrap="squar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sz="1000" b="1">
                <a:solidFill>
                  <a:srgbClr val="6096E6"/>
                </a:solidFill>
                <a:latin typeface="微软雅黑" panose="020B0503020204020204" pitchFamily="34" charset="-122"/>
              </a:rPr>
              <a:t>RedTeam-Platform</a:t>
            </a:r>
            <a:endParaRPr sz="1000" b="1">
              <a:solidFill>
                <a:srgbClr val="6096E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29990" y="530225"/>
            <a:ext cx="5694045" cy="10064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5400" b="1" i="0">
                <a:solidFill>
                  <a:srgbClr val="0F1423"/>
                </a:solidFill>
                <a:latin typeface="微软雅黑" panose="020B0503020204020204" pitchFamily="34" charset="-122"/>
              </a:rPr>
              <a:t>阶段工作汇报</a:t>
            </a:r>
            <a:endParaRPr sz="5400" b="1" i="0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30927" y="1537462"/>
            <a:ext cx="320040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6096E6"/>
                </a:solidFill>
                <a:latin typeface="Arial" panose="020B0604020202020204"/>
              </a:rPr>
              <a:t>2026.08.30 — 至今</a:t>
            </a:r>
            <a:endParaRPr sz="1200" b="1" i="0">
              <a:solidFill>
                <a:srgbClr val="6096E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30927" y="2020189"/>
            <a:ext cx="52120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03048"/>
                </a:solidFill>
                <a:latin typeface="微软雅黑" panose="020B0503020204020204" pitchFamily="34" charset="-122"/>
              </a:rPr>
              <a:t>信息系统渗透智能化测试平台</a:t>
            </a:r>
            <a:endParaRPr sz="17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30927" y="2404237"/>
            <a:ext cx="438912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606F84"/>
                </a:solidFill>
                <a:latin typeface="Arial" panose="020B0604020202020204"/>
              </a:rPr>
              <a:t>RedTeam-Platform</a:t>
            </a:r>
            <a:endParaRPr sz="1400" b="0" i="0">
              <a:solidFill>
                <a:srgbClr val="606F84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30927" y="2971165"/>
            <a:ext cx="510235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606F84"/>
                </a:solidFill>
                <a:latin typeface="微软雅黑" panose="020B0503020204020204" pitchFamily="34" charset="-122"/>
              </a:rPr>
              <a:t>本阶段围绕攻击编排、扫描优化、评估输出和系统演示，完成专项功能补强。</a:t>
            </a:r>
            <a:endParaRPr sz="13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712463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00" b="0" i="0">
                <a:solidFill>
                  <a:srgbClr val="606F84"/>
                </a:solidFill>
                <a:latin typeface="Arial" panose="020B0604020202020204"/>
              </a:rPr>
              <a:t>PROJECT UPDATE  ·  FOR SYSTEM DEMO</a:t>
            </a:r>
            <a:endParaRPr sz="800" b="0" i="0">
              <a:solidFill>
                <a:srgbClr val="606F8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979985" y="79131"/>
            <a:ext cx="8150468" cy="6576646"/>
          </a:xfrm>
        </p:spPr>
        <p:txBody>
          <a:bodyPr wrap="square"/>
          <a:lstStyle/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96151"/>
            <a:ext cx="3108960" cy="56451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3200" b="1" i="0">
                <a:solidFill>
                  <a:srgbClr val="0F1423"/>
                </a:solidFill>
                <a:latin typeface="微软雅黑" panose="020B0503020204020204" pitchFamily="34" charset="-122"/>
              </a:rPr>
              <a:t>本次汇报内容</a:t>
            </a:r>
            <a:endParaRPr sz="3200" b="1" i="0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12533"/>
            <a:ext cx="4937760" cy="3181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0" i="0">
                <a:solidFill>
                  <a:srgbClr val="606F84"/>
                </a:solidFill>
                <a:latin typeface="微软雅黑" panose="020B0503020204020204" pitchFamily="34" charset="-122"/>
              </a:rPr>
              <a:t>四项近期工作，对应四段系统演示主线</a:t>
            </a:r>
            <a:endParaRPr sz="16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8096" y="2011680"/>
            <a:ext cx="50109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969264" y="2304288"/>
            <a:ext cx="384048" cy="384048"/>
          </a:xfrm>
          <a:prstGeom prst="ellipse">
            <a:avLst/>
          </a:prstGeom>
          <a:solidFill>
            <a:srgbClr val="58B6E5"/>
          </a:solidFill>
          <a:ln w="508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969264" y="2358898"/>
            <a:ext cx="384048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9FBFE"/>
                </a:solidFill>
                <a:latin typeface="Arial" panose="020B0604020202020204"/>
              </a:rPr>
              <a:t>01</a:t>
            </a:r>
            <a:endParaRPr sz="12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91056" y="2154365"/>
            <a:ext cx="2103120" cy="3181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03048"/>
                </a:solidFill>
                <a:latin typeface="微软雅黑" panose="020B0503020204020204" pitchFamily="34" charset="-122"/>
              </a:rPr>
              <a:t>网络数据捕获</a:t>
            </a:r>
            <a:endParaRPr sz="16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91056" y="2535365"/>
            <a:ext cx="3401568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606F84"/>
                </a:solidFill>
                <a:latin typeface="微软雅黑" panose="020B0503020204020204" pitchFamily="34" charset="-122"/>
              </a:rPr>
              <a:t>采集任务 · PCAP · 协议分析</a:t>
            </a:r>
            <a:endParaRPr sz="14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59" y="2011680"/>
            <a:ext cx="50109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Oval 13"/>
          <p:cNvSpPr/>
          <p:nvPr/>
        </p:nvSpPr>
        <p:spPr>
          <a:xfrm>
            <a:off x="6510527" y="2304288"/>
            <a:ext cx="384048" cy="384048"/>
          </a:xfrm>
          <a:prstGeom prst="ellipse">
            <a:avLst/>
          </a:prstGeom>
          <a:solidFill>
            <a:srgbClr val="6096E6"/>
          </a:solidFill>
          <a:ln w="508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510527" y="2358898"/>
            <a:ext cx="384048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9FBFE"/>
                </a:solidFill>
                <a:latin typeface="Arial" panose="020B0604020202020204"/>
              </a:rPr>
              <a:t>02</a:t>
            </a:r>
            <a:endParaRPr sz="12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2154365"/>
            <a:ext cx="2103120" cy="3181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03048"/>
                </a:solidFill>
                <a:latin typeface="微软雅黑" panose="020B0503020204020204" pitchFamily="34" charset="-122"/>
              </a:rPr>
              <a:t>脆弱性扫描优化</a:t>
            </a:r>
            <a:endParaRPr sz="16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0" y="2535365"/>
            <a:ext cx="3401568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606F84"/>
                </a:solidFill>
                <a:latin typeface="微软雅黑" panose="020B0503020204020204" pitchFamily="34" charset="-122"/>
              </a:rPr>
              <a:t>应用识别 · 目标分类 · 推荐</a:t>
            </a:r>
            <a:endParaRPr sz="14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8096" y="3493008"/>
            <a:ext cx="50109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Oval 18"/>
          <p:cNvSpPr/>
          <p:nvPr/>
        </p:nvSpPr>
        <p:spPr>
          <a:xfrm>
            <a:off x="969264" y="3785616"/>
            <a:ext cx="384048" cy="384048"/>
          </a:xfrm>
          <a:prstGeom prst="ellipse">
            <a:avLst/>
          </a:prstGeom>
          <a:solidFill>
            <a:srgbClr val="EC5F74"/>
          </a:solidFill>
          <a:ln w="5080">
            <a:solidFill>
              <a:srgbClr val="EC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969264" y="3840226"/>
            <a:ext cx="384048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9FBFE"/>
                </a:solidFill>
                <a:latin typeface="Arial" panose="020B0604020202020204"/>
              </a:rPr>
              <a:t>03</a:t>
            </a:r>
            <a:endParaRPr sz="12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91056" y="3635693"/>
            <a:ext cx="2103120" cy="3181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03048"/>
                </a:solidFill>
                <a:latin typeface="微软雅黑" panose="020B0503020204020204" pitchFamily="34" charset="-122"/>
              </a:rPr>
              <a:t>三类攻击实现</a:t>
            </a:r>
            <a:endParaRPr sz="16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91056" y="4016693"/>
            <a:ext cx="3401568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606F84"/>
                </a:solidFill>
                <a:latin typeface="微软雅黑" panose="020B0503020204020204" pitchFamily="34" charset="-122"/>
              </a:rPr>
              <a:t>Campaign · 阶段 · 产物传递</a:t>
            </a:r>
            <a:endParaRPr sz="14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09359" y="3493008"/>
            <a:ext cx="501091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Oval 23"/>
          <p:cNvSpPr/>
          <p:nvPr/>
        </p:nvSpPr>
        <p:spPr>
          <a:xfrm>
            <a:off x="6510527" y="3785616"/>
            <a:ext cx="384048" cy="384048"/>
          </a:xfrm>
          <a:prstGeom prst="ellipse">
            <a:avLst/>
          </a:prstGeom>
          <a:solidFill>
            <a:srgbClr val="56CA95"/>
          </a:solidFill>
          <a:ln w="508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510527" y="3840226"/>
            <a:ext cx="384048" cy="2565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9FBFE"/>
                </a:solidFill>
                <a:latin typeface="Arial" panose="020B0604020202020204"/>
              </a:rPr>
              <a:t>04</a:t>
            </a:r>
            <a:endParaRPr sz="12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0" y="3635693"/>
            <a:ext cx="2103120" cy="31813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03048"/>
                </a:solidFill>
                <a:latin typeface="微软雅黑" panose="020B0503020204020204" pitchFamily="34" charset="-122"/>
              </a:rPr>
              <a:t>测试报告智能生成</a:t>
            </a:r>
            <a:endParaRPr sz="16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0" y="4016693"/>
            <a:ext cx="3401568" cy="2876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i="0">
                <a:solidFill>
                  <a:srgbClr val="606F84"/>
                </a:solidFill>
                <a:latin typeface="微软雅黑" panose="020B0503020204020204" pitchFamily="34" charset="-122"/>
              </a:rPr>
              <a:t>证据汇总 · 预览 · 多格式导出</a:t>
            </a:r>
            <a:endParaRPr sz="14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5888736"/>
            <a:ext cx="10789920" cy="310896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952744"/>
            <a:ext cx="1042416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58B6E5"/>
                </a:solidFill>
                <a:latin typeface="微软雅黑" panose="020B0503020204020204" pitchFamily="34" charset="-122"/>
              </a:rPr>
              <a:t>演示顺序：先展示发现，再展示攻击决策，最后落到证据与报告。</a:t>
            </a:r>
            <a:endParaRPr sz="900" b="1" i="0">
              <a:solidFill>
                <a:srgbClr val="58B6E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096E6"/>
                </a:solidFill>
                <a:latin typeface="Arial" panose="020B0604020202020204"/>
              </a:rPr>
              <a:t>01 / CAPTURE</a:t>
            </a:r>
            <a:endParaRPr sz="900" b="1" i="0">
              <a:solidFill>
                <a:srgbClr val="6096E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02920"/>
            <a:ext cx="9692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0F1423"/>
                </a:solidFill>
                <a:latin typeface="微软雅黑" panose="020B0503020204020204" pitchFamily="34" charset="-122"/>
              </a:rPr>
              <a:t>网络数据捕获：把攻击过程留下来</a:t>
            </a:r>
            <a:endParaRPr sz="2200" b="1" i="0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40080" y="996696"/>
            <a:ext cx="10863072" cy="0"/>
          </a:xfrm>
          <a:prstGeom prst="line">
            <a:avLst/>
          </a:prstGeom>
          <a:ln w="1016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188720"/>
            <a:ext cx="950976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606F84"/>
                </a:solidFill>
                <a:latin typeface="微软雅黑" panose="020B0503020204020204" pitchFamily="34" charset="-122"/>
              </a:rPr>
              <a:t>新增捕获任务、启动/停止控制、PCAP 文件管理与 tshark 分析服务，接入测试评估页面。</a:t>
            </a:r>
            <a:endParaRPr sz="12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8096" y="1993392"/>
            <a:ext cx="2157984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76272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58B6E5"/>
                </a:solidFill>
                <a:latin typeface="Arial" panose="020B0604020202020204"/>
              </a:rPr>
              <a:t>01</a:t>
            </a:r>
            <a:endParaRPr sz="1000" b="1" i="0">
              <a:solidFill>
                <a:srgbClr val="58B6E5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139696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创建任务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2688" y="2542032"/>
            <a:ext cx="1792224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接口 / 网卡 / 过滤条件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2980944" y="2432304"/>
            <a:ext cx="347472" cy="146304"/>
          </a:xfrm>
          <a:prstGeom prst="rightArrow">
            <a:avLst/>
          </a:prstGeom>
          <a:solidFill>
            <a:srgbClr val="58B6E5"/>
          </a:solidFill>
          <a:ln w="127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9584" y="1993392"/>
            <a:ext cx="2157984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4176" y="2176272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6096E6"/>
                </a:solidFill>
                <a:latin typeface="Arial" panose="020B0604020202020204"/>
              </a:rPr>
              <a:t>02</a:t>
            </a:r>
            <a:endParaRPr sz="1000" b="1" i="0">
              <a:solidFill>
                <a:srgbClr val="6096E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33087" y="2139696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开始捕获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94176" y="2542032"/>
            <a:ext cx="1792224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tcpdump 容器执行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742431" y="2432304"/>
            <a:ext cx="347472" cy="146304"/>
          </a:xfrm>
          <a:prstGeom prst="rightArrow">
            <a:avLst/>
          </a:prstGeom>
          <a:solidFill>
            <a:srgbClr val="6096E6"/>
          </a:solidFill>
          <a:ln w="127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1072" y="1993392"/>
            <a:ext cx="2157984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76272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954D72"/>
                </a:solidFill>
                <a:latin typeface="Arial" panose="020B0604020202020204"/>
              </a:rPr>
              <a:t>03</a:t>
            </a:r>
            <a:endParaRPr sz="1000" b="1" i="0">
              <a:solidFill>
                <a:srgbClr val="954D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94576" y="2139696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停止并落盘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5664" y="2542032"/>
            <a:ext cx="1792224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生成 PCAP 文件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8503920" y="2432304"/>
            <a:ext cx="347472" cy="146304"/>
          </a:xfrm>
          <a:prstGeom prst="rightArrow">
            <a:avLst/>
          </a:prstGeom>
          <a:solidFill>
            <a:srgbClr val="954D72"/>
          </a:solidFill>
          <a:ln w="127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0" y="1993392"/>
            <a:ext cx="2157984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2176272"/>
            <a:ext cx="310896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56CA95"/>
                </a:solidFill>
                <a:latin typeface="Arial" panose="020B0604020202020204"/>
              </a:rPr>
              <a:t>04</a:t>
            </a:r>
            <a:endParaRPr sz="1000" b="1" i="0">
              <a:solidFill>
                <a:srgbClr val="56CA9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56064" y="2139696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分析结果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17152" y="2542032"/>
            <a:ext cx="1792224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协议 / 会话 / 异常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68096" y="3840480"/>
            <a:ext cx="2157984" cy="11521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078224"/>
            <a:ext cx="17556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任务生命周期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2688" y="4443984"/>
            <a:ext cx="175564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created → running → stopped → analyzed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75887" y="3840480"/>
            <a:ext cx="2157984" cy="11521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79" y="4078224"/>
            <a:ext cx="17556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分析服务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40479" y="4443984"/>
            <a:ext cx="175564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tshark 协议统计、会话与异常识别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80" y="3840480"/>
            <a:ext cx="2157984" cy="11521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4078224"/>
            <a:ext cx="17556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前端入口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48272" y="4443984"/>
            <a:ext cx="175564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评估页独立 Tab，状态实时刷新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491472" y="3840480"/>
            <a:ext cx="2157984" cy="11521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B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56064" y="4078224"/>
            <a:ext cx="17556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当前状态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56064" y="4443984"/>
            <a:ext cx="175564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功能已接入，现场环境持续联调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58368" y="5888736"/>
            <a:ext cx="10789920" cy="310896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952744"/>
            <a:ext cx="1042416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58B6E5"/>
                </a:solidFill>
                <a:latin typeface="微软雅黑" panose="020B0503020204020204" pitchFamily="34" charset="-122"/>
              </a:rPr>
              <a:t>演示建议：评估页 → 网络数据捕获 → 新建任务 → 开始/停止 → 查看分析结果。</a:t>
            </a:r>
            <a:endParaRPr sz="900" b="1" i="0">
              <a:solidFill>
                <a:srgbClr val="58B6E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096E6"/>
                </a:solidFill>
                <a:latin typeface="Arial" panose="020B0604020202020204"/>
              </a:rPr>
              <a:t>02 / SCAN</a:t>
            </a:r>
            <a:endParaRPr sz="900" b="1" i="0">
              <a:solidFill>
                <a:srgbClr val="6096E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02920"/>
            <a:ext cx="9692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0F1423"/>
                </a:solidFill>
                <a:latin typeface="微软雅黑" panose="020B0503020204020204" pitchFamily="34" charset="-122"/>
              </a:rPr>
              <a:t>脆弱性扫描优化：面向应用目标的发现与推荐</a:t>
            </a:r>
            <a:endParaRPr sz="2200" b="1" i="0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40080" y="996696"/>
            <a:ext cx="10863072" cy="0"/>
          </a:xfrm>
          <a:prstGeom prst="line">
            <a:avLst/>
          </a:prstGeom>
          <a:ln w="1016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188720"/>
            <a:ext cx="96926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606F84"/>
                </a:solidFill>
                <a:latin typeface="微软雅黑" panose="020B0503020204020204" pitchFamily="34" charset="-122"/>
              </a:rPr>
              <a:t>扫描页面从单一任务列表扩展为“目标识别 + 多类扫描 + 结果分析 + Playbook 推荐”工作台。</a:t>
            </a:r>
            <a:endParaRPr sz="12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1828800"/>
            <a:ext cx="3767328" cy="3621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084831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203048"/>
                </a:solidFill>
                <a:latin typeface="微软雅黑" panose="020B0503020204020204" pitchFamily="34" charset="-122"/>
              </a:rPr>
              <a:t>新增应用扫描类型</a:t>
            </a:r>
            <a:endParaRPr sz="13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2688336"/>
            <a:ext cx="182880" cy="182880"/>
          </a:xfrm>
          <a:prstGeom prst="ellipse">
            <a:avLst/>
          </a:prstGeom>
          <a:solidFill>
            <a:srgbClr val="58B6E5"/>
          </a:solidFill>
          <a:ln w="381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651760"/>
            <a:ext cx="17922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203048"/>
                </a:solidFill>
                <a:latin typeface="Arial" panose="020B0604020202020204"/>
              </a:rPr>
              <a:t>whatweb + httpx</a:t>
            </a:r>
            <a:endParaRPr sz="1000" b="1" i="0">
              <a:solidFill>
                <a:srgbClr val="203048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53312" y="2907791"/>
            <a:ext cx="2505456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技术栈与 HTTP 特征发现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5840" y="3346704"/>
            <a:ext cx="182880" cy="182880"/>
          </a:xfrm>
          <a:prstGeom prst="ellipse">
            <a:avLst/>
          </a:prstGeom>
          <a:solidFill>
            <a:srgbClr val="954D72"/>
          </a:solidFill>
          <a:ln w="381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3310128"/>
            <a:ext cx="17922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203048"/>
                </a:solidFill>
                <a:latin typeface="Arial" panose="020B0604020202020204"/>
              </a:rPr>
              <a:t>arjun + ffuf</a:t>
            </a:r>
            <a:endParaRPr sz="1000" b="1" i="0">
              <a:solidFill>
                <a:srgbClr val="203048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3312" y="3566160"/>
            <a:ext cx="2505456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API 端点与参数模糊测试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05840" y="4005072"/>
            <a:ext cx="182880" cy="182880"/>
          </a:xfrm>
          <a:prstGeom prst="ellipse">
            <a:avLst/>
          </a:prstGeom>
          <a:solidFill>
            <a:srgbClr val="56CA95"/>
          </a:solidFill>
          <a:ln w="381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968496"/>
            <a:ext cx="179222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203048"/>
                </a:solidFill>
                <a:latin typeface="Arial" panose="020B0604020202020204"/>
              </a:rPr>
              <a:t>nuclei 认证模板</a:t>
            </a:r>
            <a:endParaRPr sz="1000" b="1" i="0">
              <a:solidFill>
                <a:srgbClr val="203048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53312" y="4224528"/>
            <a:ext cx="2505456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认证机制与配置审计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87552" y="4663440"/>
            <a:ext cx="3182111" cy="0"/>
          </a:xfrm>
          <a:prstGeom prst="line">
            <a:avLst/>
          </a:prstGeom>
          <a:ln w="762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7552" y="4882896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06F84"/>
                </a:solidFill>
                <a:latin typeface="微软雅黑" panose="020B0503020204020204" pitchFamily="34" charset="-122"/>
              </a:rPr>
              <a:t>目标分类</a:t>
            </a:r>
            <a:endParaRPr sz="900" b="1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901952" y="4846320"/>
            <a:ext cx="493776" cy="256032"/>
          </a:xfrm>
          <a:prstGeom prst="roundRect">
            <a:avLst/>
          </a:prstGeom>
          <a:solidFill>
            <a:srgbClr val="58B6E5"/>
          </a:solidFill>
          <a:ln w="762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01952" y="4855464"/>
            <a:ext cx="493776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58B6E5"/>
                </a:solidFill>
                <a:latin typeface="Arial" panose="020B0604020202020204"/>
              </a:rPr>
              <a:t>Web</a:t>
            </a:r>
            <a:endParaRPr sz="700" b="1" i="0">
              <a:solidFill>
                <a:srgbClr val="58B6E5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468880" y="4846320"/>
            <a:ext cx="493776" cy="256032"/>
          </a:xfrm>
          <a:prstGeom prst="roundRect">
            <a:avLst/>
          </a:prstGeom>
          <a:solidFill>
            <a:srgbClr val="954D72"/>
          </a:solidFill>
          <a:ln w="762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4855464"/>
            <a:ext cx="493776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954D72"/>
                </a:solidFill>
                <a:latin typeface="Arial" panose="020B0604020202020204"/>
              </a:rPr>
              <a:t>REST</a:t>
            </a:r>
            <a:endParaRPr sz="700" b="1" i="0">
              <a:solidFill>
                <a:srgbClr val="954D72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035808" y="4846320"/>
            <a:ext cx="493776" cy="256032"/>
          </a:xfrm>
          <a:prstGeom prst="roundRect">
            <a:avLst/>
          </a:prstGeom>
          <a:solidFill>
            <a:srgbClr val="FFBA55"/>
          </a:solidFill>
          <a:ln w="7620">
            <a:solidFill>
              <a:srgbClr val="FFB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4855464"/>
            <a:ext cx="493776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FFBA55"/>
                </a:solidFill>
                <a:latin typeface="Arial" panose="020B0604020202020204"/>
              </a:rPr>
              <a:t>GraphQL</a:t>
            </a:r>
            <a:endParaRPr sz="700" b="1" i="0">
              <a:solidFill>
                <a:srgbClr val="FFBA55"/>
              </a:solidFill>
              <a:latin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02736" y="4846320"/>
            <a:ext cx="493776" cy="256032"/>
          </a:xfrm>
          <a:prstGeom prst="roundRect">
            <a:avLst/>
          </a:prstGeom>
          <a:solidFill>
            <a:srgbClr val="56CA95"/>
          </a:solidFill>
          <a:ln w="762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2736" y="4855464"/>
            <a:ext cx="493776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700" b="1" i="0">
                <a:solidFill>
                  <a:srgbClr val="56CA95"/>
                </a:solidFill>
                <a:latin typeface="Arial" panose="020B0604020202020204"/>
              </a:rPr>
              <a:t>SPA</a:t>
            </a:r>
            <a:endParaRPr sz="700" b="1" i="0">
              <a:solidFill>
                <a:srgbClr val="56CA95"/>
              </a:solidFill>
              <a:latin typeface="Arial" panose="020B06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736592" y="1828800"/>
            <a:ext cx="6784848" cy="3621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2084831"/>
            <a:ext cx="228600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203048"/>
                </a:solidFill>
                <a:latin typeface="微软雅黑" panose="020B0503020204020204" pitchFamily="34" charset="-122"/>
              </a:rPr>
              <a:t>结果驱动的推荐链路</a:t>
            </a:r>
            <a:endParaRPr sz="13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029200" y="2889504"/>
            <a:ext cx="384048" cy="384048"/>
          </a:xfrm>
          <a:prstGeom prst="ellipse">
            <a:avLst/>
          </a:prstGeom>
          <a:solidFill>
            <a:srgbClr val="58B6E5"/>
          </a:solidFill>
          <a:ln w="508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017520"/>
            <a:ext cx="384048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1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01184" y="3456432"/>
            <a:ext cx="6400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203048"/>
                </a:solidFill>
                <a:latin typeface="微软雅黑" panose="020B0503020204020204" pitchFamily="34" charset="-122"/>
              </a:rPr>
              <a:t>发现</a:t>
            </a:r>
            <a:endParaRPr sz="10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08576" y="3749039"/>
            <a:ext cx="122529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606F84"/>
                </a:solidFill>
                <a:latin typeface="微软雅黑" panose="020B0503020204020204" pitchFamily="34" charset="-122"/>
              </a:rPr>
              <a:t>443 / Spring / /api</a:t>
            </a:r>
            <a:endParaRPr sz="8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5596128" y="3035808"/>
            <a:ext cx="384048" cy="146304"/>
          </a:xfrm>
          <a:prstGeom prst="rightArrow">
            <a:avLst/>
          </a:prstGeom>
          <a:solidFill>
            <a:srgbClr val="58B6E5"/>
          </a:solidFill>
          <a:ln w="127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1968" y="2889504"/>
            <a:ext cx="384048" cy="384048"/>
          </a:xfrm>
          <a:prstGeom prst="ellipse">
            <a:avLst/>
          </a:prstGeom>
          <a:solidFill>
            <a:srgbClr val="6096E6"/>
          </a:solidFill>
          <a:ln w="508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3017520"/>
            <a:ext cx="384048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2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73952" y="3456432"/>
            <a:ext cx="6400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203048"/>
                </a:solidFill>
                <a:latin typeface="微软雅黑" panose="020B0503020204020204" pitchFamily="34" charset="-122"/>
              </a:rPr>
              <a:t>分析</a:t>
            </a:r>
            <a:endParaRPr sz="10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81344" y="3749039"/>
            <a:ext cx="122529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606F84"/>
                </a:solidFill>
                <a:latin typeface="微软雅黑" panose="020B0503020204020204" pitchFamily="34" charset="-122"/>
              </a:rPr>
              <a:t>技术栈 + 攻击面</a:t>
            </a:r>
            <a:endParaRPr sz="8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7168896" y="3035808"/>
            <a:ext cx="384048" cy="146304"/>
          </a:xfrm>
          <a:prstGeom prst="rightArrow">
            <a:avLst/>
          </a:prstGeom>
          <a:solidFill>
            <a:srgbClr val="6096E6"/>
          </a:solidFill>
          <a:ln w="127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74736" y="2889504"/>
            <a:ext cx="384048" cy="384048"/>
          </a:xfrm>
          <a:prstGeom prst="ellipse">
            <a:avLst/>
          </a:prstGeom>
          <a:solidFill>
            <a:srgbClr val="954D72"/>
          </a:solidFill>
          <a:ln w="508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4736" y="3017520"/>
            <a:ext cx="384048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3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46719" y="3456432"/>
            <a:ext cx="6400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203048"/>
                </a:solidFill>
                <a:latin typeface="微软雅黑" panose="020B0503020204020204" pitchFamily="34" charset="-122"/>
              </a:rPr>
              <a:t>匹配</a:t>
            </a:r>
            <a:endParaRPr sz="10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54111" y="3749039"/>
            <a:ext cx="122529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606F84"/>
                </a:solidFill>
                <a:latin typeface="微软雅黑" panose="020B0503020204020204" pitchFamily="34" charset="-122"/>
              </a:rPr>
              <a:t>现有 Playbook</a:t>
            </a:r>
            <a:endParaRPr sz="8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8741663" y="3035808"/>
            <a:ext cx="384048" cy="146304"/>
          </a:xfrm>
          <a:prstGeom prst="rightArrow">
            <a:avLst/>
          </a:prstGeom>
          <a:solidFill>
            <a:srgbClr val="954D72"/>
          </a:solidFill>
          <a:ln w="127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47504" y="2889504"/>
            <a:ext cx="384048" cy="384048"/>
          </a:xfrm>
          <a:prstGeom prst="ellipse">
            <a:avLst/>
          </a:prstGeom>
          <a:solidFill>
            <a:srgbClr val="56CA95"/>
          </a:solidFill>
          <a:ln w="508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47504" y="3017520"/>
            <a:ext cx="384048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4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19488" y="3456432"/>
            <a:ext cx="64008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203048"/>
                </a:solidFill>
                <a:latin typeface="微软雅黑" panose="020B0503020204020204" pitchFamily="34" charset="-122"/>
              </a:rPr>
              <a:t>预览</a:t>
            </a:r>
            <a:endParaRPr sz="10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26880" y="3749039"/>
            <a:ext cx="122529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0" i="0">
                <a:solidFill>
                  <a:srgbClr val="606F84"/>
                </a:solidFill>
                <a:latin typeface="微软雅黑" panose="020B0503020204020204" pitchFamily="34" charset="-122"/>
              </a:rPr>
              <a:t>步骤与参数</a:t>
            </a:r>
            <a:endParaRPr sz="8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029200" y="4736592"/>
            <a:ext cx="6108192" cy="438912"/>
          </a:xfrm>
          <a:prstGeom prst="roundRect">
            <a:avLst/>
          </a:prstGeom>
          <a:solidFill>
            <a:srgbClr val="F1F7FD"/>
          </a:solidFill>
          <a:ln w="635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48656" y="4864608"/>
            <a:ext cx="5650992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58B6E5"/>
                </a:solidFill>
                <a:latin typeface="微软雅黑" panose="020B0503020204020204" pitchFamily="34" charset="-122"/>
              </a:rPr>
              <a:t>推荐项点击先查看；AI 生成预案先预览，确认后再前往执行。</a:t>
            </a:r>
            <a:endParaRPr sz="900" b="1" i="0">
              <a:solidFill>
                <a:srgbClr val="58B6E5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58368" y="5888736"/>
            <a:ext cx="10789920" cy="310896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5952744"/>
            <a:ext cx="1042416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6096E6"/>
                </a:solidFill>
                <a:latin typeface="微软雅黑" panose="020B0503020204020204" pitchFamily="34" charset="-122"/>
              </a:rPr>
              <a:t>演示建议：创建应用目标 → 运行扫描 → 查看发现 → 展开推荐预案 → 前往执行。</a:t>
            </a:r>
            <a:endParaRPr sz="900" b="1" i="0">
              <a:solidFill>
                <a:srgbClr val="6096E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/>
          <p:cNvSpPr>
            <a:spLocks noGrp="1"/>
          </p:cNvSpPr>
          <p:nvPr>
            <p:ph type="title" idx="4294967295"/>
          </p:nvPr>
        </p:nvSpPr>
        <p:spPr>
          <a:xfrm>
            <a:off x="1067733" y="249739"/>
            <a:ext cx="4584922" cy="50316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endParaRPr lang="zh-CN" altLang="en-US" spc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  <p:sp>
        <p:nvSpPr>
          <p:cNvPr id="73" name="TextBox 72"/>
          <p:cNvSpPr txBox="1"/>
          <p:nvPr/>
        </p:nvSpPr>
        <p:spPr>
          <a:xfrm>
            <a:off x="640080" y="21945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096E6"/>
                </a:solidFill>
                <a:latin typeface="Arial" panose="020B0604020202020204"/>
              </a:rPr>
              <a:t>03 / ATTACK</a:t>
            </a:r>
            <a:endParaRPr sz="900" b="1" i="0">
              <a:solidFill>
                <a:srgbClr val="6096E6"/>
              </a:solidFill>
              <a:latin typeface="Arial" panose="020B060402020202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0080" y="502920"/>
            <a:ext cx="9692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0F1423"/>
                </a:solidFill>
                <a:latin typeface="微软雅黑" panose="020B0503020204020204" pitchFamily="34" charset="-122"/>
              </a:rPr>
              <a:t>三类攻击实现：用 Campaign 组织攻击行动</a:t>
            </a:r>
            <a:endParaRPr sz="2200" b="1" i="0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40080" y="996696"/>
            <a:ext cx="10863072" cy="0"/>
          </a:xfrm>
          <a:prstGeom prst="line">
            <a:avLst/>
          </a:prstGeom>
          <a:ln w="1016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8368" y="1188720"/>
            <a:ext cx="94183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606F84"/>
                </a:solidFill>
                <a:latin typeface="微软雅黑" panose="020B0503020204020204" pitchFamily="34" charset="-122"/>
              </a:rPr>
              <a:t>新增 Campaign 数据模型、阶段管理、Playbook 编排、阶段产物传递与运行控制。</a:t>
            </a:r>
            <a:endParaRPr sz="12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68096" y="1920240"/>
            <a:ext cx="2322576" cy="11338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50976" y="2139696"/>
            <a:ext cx="329184" cy="329184"/>
          </a:xfrm>
          <a:prstGeom prst="ellipse">
            <a:avLst/>
          </a:prstGeom>
          <a:solidFill>
            <a:srgbClr val="58B6E5"/>
          </a:solidFill>
          <a:ln w="381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0976" y="2249424"/>
            <a:ext cx="329184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01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408176" y="2121408"/>
            <a:ext cx="1408176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数据抵近窃取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50976" y="2615184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凭据 / 文件 / 数据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Right Arrow 81"/>
          <p:cNvSpPr/>
          <p:nvPr/>
        </p:nvSpPr>
        <p:spPr>
          <a:xfrm>
            <a:off x="3145536" y="2395728"/>
            <a:ext cx="347472" cy="146304"/>
          </a:xfrm>
          <a:prstGeom prst="rightArrow">
            <a:avLst/>
          </a:prstGeom>
          <a:solidFill>
            <a:srgbClr val="58B6E5"/>
          </a:solidFill>
          <a:ln w="127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547872" y="1920240"/>
            <a:ext cx="2322576" cy="11338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730752" y="2139696"/>
            <a:ext cx="329184" cy="329184"/>
          </a:xfrm>
          <a:prstGeom prst="ellipse">
            <a:avLst/>
          </a:prstGeom>
          <a:solidFill>
            <a:srgbClr val="954D72"/>
          </a:solidFill>
          <a:ln w="381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30752" y="2249424"/>
            <a:ext cx="329184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02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187952" y="2121408"/>
            <a:ext cx="1408176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信息篡改欺骗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730752" y="2615184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DNS / 会话 / 误导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Right Arrow 87"/>
          <p:cNvSpPr/>
          <p:nvPr/>
        </p:nvSpPr>
        <p:spPr>
          <a:xfrm>
            <a:off x="5925312" y="2395728"/>
            <a:ext cx="347472" cy="146304"/>
          </a:xfrm>
          <a:prstGeom prst="rightArrow">
            <a:avLst/>
          </a:prstGeom>
          <a:solidFill>
            <a:srgbClr val="954D72"/>
          </a:solidFill>
          <a:ln w="127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327648" y="1920240"/>
            <a:ext cx="2322576" cy="11338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C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510528" y="2139696"/>
            <a:ext cx="329184" cy="329184"/>
          </a:xfrm>
          <a:prstGeom prst="ellipse">
            <a:avLst/>
          </a:prstGeom>
          <a:solidFill>
            <a:srgbClr val="EC5F74"/>
          </a:solidFill>
          <a:ln w="3810">
            <a:solidFill>
              <a:srgbClr val="EC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10528" y="2249424"/>
            <a:ext cx="329184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9FBFE"/>
                </a:solidFill>
                <a:latin typeface="Arial" panose="020B0604020202020204"/>
              </a:rPr>
              <a:t>03</a:t>
            </a:r>
            <a:endParaRPr sz="800" b="1" i="0">
              <a:solidFill>
                <a:srgbClr val="F9FBFE"/>
              </a:solidFill>
              <a:latin typeface="Arial" panose="020B0604020202020204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967728" y="2121408"/>
            <a:ext cx="1408176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关键设备夺控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10528" y="2615184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横向 / 控制 / 持久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68096" y="3547872"/>
            <a:ext cx="10808208" cy="18470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24128" y="3986784"/>
            <a:ext cx="237744" cy="237744"/>
          </a:xfrm>
          <a:prstGeom prst="ellipse">
            <a:avLst/>
          </a:prstGeom>
          <a:solidFill>
            <a:srgbClr val="58B6E5"/>
          </a:solidFill>
          <a:ln w="381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408176" y="3950208"/>
            <a:ext cx="142646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阶段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24128" y="4425696"/>
            <a:ext cx="204825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每个阶段可跳过、推进、查看状态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3639312" y="3986784"/>
            <a:ext cx="237744" cy="237744"/>
          </a:xfrm>
          <a:prstGeom prst="ellipse">
            <a:avLst/>
          </a:prstGeom>
          <a:solidFill>
            <a:srgbClr val="954D72"/>
          </a:solidFill>
          <a:ln w="381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023360" y="3950208"/>
            <a:ext cx="142646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预案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639312" y="4425696"/>
            <a:ext cx="204825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阶段内支持串行 / 并行 / 条件执行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6254496" y="3986784"/>
            <a:ext cx="237744" cy="237744"/>
          </a:xfrm>
          <a:prstGeom prst="ellipse">
            <a:avLst/>
          </a:prstGeom>
          <a:solidFill>
            <a:srgbClr val="56CA95"/>
          </a:solidFill>
          <a:ln w="381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638544" y="3950208"/>
            <a:ext cx="142646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产物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254496" y="4425696"/>
            <a:ext cx="204825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凭据、IP、Token 注入后续步骤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8869680" y="3986784"/>
            <a:ext cx="237744" cy="237744"/>
          </a:xfrm>
          <a:prstGeom prst="ellipse">
            <a:avLst/>
          </a:prstGeom>
          <a:solidFill>
            <a:srgbClr val="FFBA55"/>
          </a:solidFill>
          <a:ln w="3810">
            <a:solidFill>
              <a:srgbClr val="FFB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53728" y="3950208"/>
            <a:ext cx="1426464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控制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869680" y="4425696"/>
            <a:ext cx="204825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启动 / 暂停 / 终止 / 战役报告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658368" y="5888736"/>
            <a:ext cx="10789920" cy="310896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1248" y="5952744"/>
            <a:ext cx="1042416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C5F74"/>
                </a:solidFill>
                <a:latin typeface="微软雅黑" panose="020B0503020204020204" pitchFamily="34" charset="-122"/>
              </a:rPr>
              <a:t>演示建议：新建战役 → 为三个阶段添加 Playbook → 查看阶段产物 → 启动战役。</a:t>
            </a:r>
            <a:endParaRPr sz="900" b="1" i="0">
              <a:solidFill>
                <a:srgbClr val="EC5F74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"/>
            <a:ext cx="21031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6096E6"/>
                </a:solidFill>
                <a:latin typeface="Arial" panose="020B0604020202020204"/>
              </a:rPr>
              <a:t>04 / REPORT</a:t>
            </a:r>
            <a:endParaRPr sz="900" b="1" i="0">
              <a:solidFill>
                <a:srgbClr val="6096E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02920"/>
            <a:ext cx="9692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200" b="1" i="0">
                <a:solidFill>
                  <a:srgbClr val="0F1423"/>
                </a:solidFill>
                <a:latin typeface="微软雅黑" panose="020B0503020204020204" pitchFamily="34" charset="-122"/>
              </a:rPr>
              <a:t>测试报告智能生成：让证据自动变成结论</a:t>
            </a:r>
            <a:endParaRPr sz="2200" b="1" i="0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40080" y="996696"/>
            <a:ext cx="10863072" cy="0"/>
          </a:xfrm>
          <a:prstGeom prst="line">
            <a:avLst/>
          </a:prstGeom>
          <a:ln w="1016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188720"/>
            <a:ext cx="96926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606F84"/>
                </a:solidFill>
                <a:latin typeface="微软雅黑" panose="020B0503020204020204" pitchFamily="34" charset="-122"/>
              </a:rPr>
              <a:t>基于执行记录、攻击证据和捕获分析结果，自动生成结构化报告，并支持预览与导出。</a:t>
            </a:r>
            <a:endParaRPr sz="12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8096" y="1993392"/>
            <a:ext cx="215798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31136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证据汇总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2578608"/>
            <a:ext cx="1755648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Arial" panose="020B0604020202020204"/>
              </a:rPr>
              <a:t>run / steps / evidence</a:t>
            </a:r>
            <a:endParaRPr sz="900" b="0" i="0">
              <a:solidFill>
                <a:srgbClr val="606F84"/>
              </a:solidFill>
              <a:latin typeface="Arial" panose="020B060402020202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2980944" y="2432304"/>
            <a:ext cx="384048" cy="146304"/>
          </a:xfrm>
          <a:prstGeom prst="rightArrow">
            <a:avLst/>
          </a:prstGeom>
          <a:solidFill>
            <a:srgbClr val="58B6E5"/>
          </a:solidFill>
          <a:ln w="127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9584" y="1993392"/>
            <a:ext cx="215798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2231136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智能整理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4176" y="2578608"/>
            <a:ext cx="1755648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Arial" panose="020B0604020202020204"/>
              </a:rPr>
              <a:t>风险、影响、结论</a:t>
            </a:r>
            <a:endParaRPr sz="900" b="0" i="0">
              <a:solidFill>
                <a:srgbClr val="606F84"/>
              </a:solidFill>
              <a:latin typeface="Arial" panose="020B0604020202020204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5742431" y="2432304"/>
            <a:ext cx="384048" cy="146304"/>
          </a:xfrm>
          <a:prstGeom prst="rightArrow">
            <a:avLst/>
          </a:prstGeom>
          <a:solidFill>
            <a:srgbClr val="954D72"/>
          </a:solidFill>
          <a:ln w="127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91072" y="1993392"/>
            <a:ext cx="215798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231136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报告预览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55664" y="2578608"/>
            <a:ext cx="1755648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Arial" panose="020B0604020202020204"/>
              </a:rPr>
              <a:t>JSON ↔ HTML</a:t>
            </a:r>
            <a:endParaRPr sz="900" b="0" i="0">
              <a:solidFill>
                <a:srgbClr val="606F84"/>
              </a:solidFill>
              <a:latin typeface="Arial" panose="020B0604020202020204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8503920" y="2432304"/>
            <a:ext cx="384048" cy="146304"/>
          </a:xfrm>
          <a:prstGeom prst="rightArrow">
            <a:avLst/>
          </a:prstGeom>
          <a:solidFill>
            <a:srgbClr val="6096E6"/>
          </a:solidFill>
          <a:ln w="1270">
            <a:solidFill>
              <a:srgbClr val="60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1993392"/>
            <a:ext cx="215798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231136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03048"/>
                </a:solidFill>
                <a:latin typeface="微软雅黑" panose="020B0503020204020204" pitchFamily="34" charset="-122"/>
              </a:rPr>
              <a:t>交付导出</a:t>
            </a:r>
            <a:endParaRPr sz="12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17152" y="2578608"/>
            <a:ext cx="1755648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Arial" panose="020B0604020202020204"/>
              </a:rPr>
              <a:t>DOCX / PDF / HTML</a:t>
            </a:r>
            <a:endParaRPr sz="900" b="0" i="0">
              <a:solidFill>
                <a:srgbClr val="606F84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68096" y="3785615"/>
            <a:ext cx="2157984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58B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023360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报告预览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2688" y="4389120"/>
            <a:ext cx="175564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源码与 HTML 双模式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75887" y="3785615"/>
            <a:ext cx="2157984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56C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79" y="4023360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多格式导出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40479" y="4389120"/>
            <a:ext cx="175564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DOCX / PDF / HTML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583680" y="3785615"/>
            <a:ext cx="2157984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954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4023360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WPS 打开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48272" y="4389120"/>
            <a:ext cx="175564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导出后可直接编辑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491472" y="3785615"/>
            <a:ext cx="2157984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B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4023360"/>
            <a:ext cx="166420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03048"/>
                </a:solidFill>
                <a:latin typeface="微软雅黑" panose="020B0503020204020204" pitchFamily="34" charset="-122"/>
              </a:rPr>
              <a:t>模板接口</a:t>
            </a:r>
            <a:endParaRPr sz="1100" b="1" i="0">
              <a:solidFill>
                <a:srgbClr val="20304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56064" y="4389120"/>
            <a:ext cx="1755648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606F84"/>
                </a:solidFill>
                <a:latin typeface="微软雅黑" panose="020B0503020204020204" pitchFamily="34" charset="-122"/>
              </a:rPr>
              <a:t>生成与导出 API</a:t>
            </a:r>
            <a:endParaRPr sz="900" b="0" i="0">
              <a:solidFill>
                <a:srgbClr val="606F8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5888736"/>
            <a:ext cx="10789920" cy="310896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952744"/>
            <a:ext cx="1042416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56CA95"/>
                </a:solidFill>
                <a:latin typeface="微软雅黑" panose="020B0503020204020204" pitchFamily="34" charset="-122"/>
              </a:rPr>
              <a:t>演示建议：选择执行记录 → 生成测试报告 → HTML 预览 → 导出 DOCX/PDF。</a:t>
            </a:r>
            <a:endParaRPr sz="900" b="1" i="0">
              <a:solidFill>
                <a:srgbClr val="56CA95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71"/>
          <p:cNvSpPr>
            <a:spLocks noGrp="1"/>
          </p:cNvSpPr>
          <p:nvPr>
            <p:ph type="title" idx="4294967295"/>
          </p:nvPr>
        </p:nvSpPr>
        <p:spPr>
          <a:xfrm>
            <a:off x="1111694" y="209006"/>
            <a:ext cx="5537583" cy="503161"/>
          </a:xfrm>
          <a:prstGeom prst="rect">
            <a:avLst/>
          </a:prstGeom>
        </p:spPr>
        <p:txBody>
          <a:bodyPr wrap="square">
            <a:normAutofit fontScale="90000"/>
          </a:bodyPr>
          <a:lstStyle/>
          <a:p>
            <a:r>
              <a:rPr sz="2500" b="1">
                <a:solidFill>
                  <a:srgbClr val="0F1423"/>
                </a:solidFill>
                <a:latin typeface="微软雅黑" panose="020B0503020204020204" pitchFamily="34" charset="-122"/>
              </a:rPr>
              <a:t>感谢聆听</a:t>
            </a:r>
            <a:endParaRPr lang="en-US" altLang="zh-CN" spc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z="1150" spc="90"/>
              <a:t>Page </a:t>
            </a:r>
            <a:fld id="{7CFB1EEF-B761-4911-A2FD-18DBD3241D03}" type="slidenum">
              <a:rPr lang="zh-CN" altLang="en-US" sz="1150" spc="90" smtClean="0"/>
            </a:fld>
            <a:endParaRPr lang="zh-CN" altLang="en-US" sz="1150" spc="90" dirty="0"/>
          </a:p>
        </p:txBody>
      </p:sp>
      <p:sp>
        <p:nvSpPr>
          <p:cNvPr id="4" name="矩形 3"/>
          <p:cNvSpPr/>
          <p:nvPr/>
        </p:nvSpPr>
        <p:spPr>
          <a:xfrm>
            <a:off x="197968" y="1175305"/>
            <a:ext cx="32970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96E6"/>
                </a:solidFill>
                <a:latin typeface="微软雅黑" panose="020B0503020204020204" pitchFamily="34" charset="-122"/>
              </a:rPr>
              <a:t>RedTeam-Platform</a:t>
            </a:r>
            <a:endParaRPr lang="en-US" altLang="zh-CN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3187" y="2645866"/>
            <a:ext cx="1495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600" b="1">
                <a:solidFill>
                  <a:srgbClr val="0F1423"/>
                </a:solidFill>
                <a:latin typeface="微软雅黑" panose="020B0503020204020204" pitchFamily="34" charset="-122"/>
              </a:rPr>
              <a:t>谢谢</a:t>
            </a:r>
            <a:endParaRPr sz="3600" b="1">
              <a:solidFill>
                <a:srgbClr val="0F1423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487017" y="3796844"/>
            <a:ext cx="11281119" cy="102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566160" y="4736592"/>
            <a:ext cx="512064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096E6"/>
                </a:solidFill>
                <a:latin typeface="微软雅黑" panose="020B0503020204020204" pitchFamily="34" charset="-122"/>
              </a:rPr>
              <a:t>系统演示主线：扫描 → 推荐 → 执行 → 证据 → 报告</a:t>
            </a:r>
            <a:endParaRPr sz="1200" b="1" i="0">
              <a:solidFill>
                <a:srgbClr val="6096E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PA" val="v5.1.2"/>
</p:tagLst>
</file>

<file path=ppt/tags/tag58.xml><?xml version="1.0" encoding="utf-8"?>
<p:tagLst xmlns:p="http://schemas.openxmlformats.org/presentationml/2006/main">
  <p:tag name="PA" val="v5.1.2"/>
</p:tagLst>
</file>

<file path=ppt/tags/tag59.xml><?xml version="1.0" encoding="utf-8"?>
<p:tagLst xmlns:p="http://schemas.openxmlformats.org/presentationml/2006/main">
  <p:tag name="PA" val="v5.1.2"/>
</p:tagLst>
</file>

<file path=ppt/tags/tag60.xml><?xml version="1.0" encoding="utf-8"?>
<p:tagLst xmlns:p="http://schemas.openxmlformats.org/presentationml/2006/main">
  <p:tag name="PA" val="v5.1.2"/>
</p:tagLst>
</file>

<file path=ppt/tags/tag61.xml><?xml version="1.0" encoding="utf-8"?>
<p:tagLst xmlns:p="http://schemas.openxmlformats.org/presentationml/2006/main">
  <p:tag name="PA" val="v5.1.2"/>
</p:tagLst>
</file>

<file path=ppt/tags/tag62.xml><?xml version="1.0" encoding="utf-8"?>
<p:tagLst xmlns:p="http://schemas.openxmlformats.org/presentationml/2006/main">
  <p:tag name="PA" val="v5.1.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p="http://schemas.openxmlformats.org/presentationml/2006/main">
  <p:tag name="KSO_WPP_MARK_KEY" val="ccdf2a85-6253-4f1b-87bd-71b56204db26"/>
  <p:tag name="COMMONDATA" val="eyJoZGlkIjoiN2Q1NmNjM2FiYzA3YTUzODk4YWIwMzM0NjRmZGQ1NW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1514</Words>
  <Application>WPS 演示</Application>
  <PresentationFormat>宽屏</PresentationFormat>
  <Paragraphs>252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方正大标宋简体</vt:lpstr>
      <vt:lpstr>微软雅黑 Light</vt:lpstr>
      <vt:lpstr>Wingdings 3</vt:lpstr>
      <vt:lpstr>Symbol</vt:lpstr>
      <vt:lpstr>Arial</vt:lpstr>
      <vt:lpstr>Arial Unicode MS</vt:lpstr>
      <vt:lpstr>Calibri</vt:lpstr>
      <vt:lpstr>Wingdings 3</vt:lpstr>
      <vt:lpstr>DFHSGothic-W3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基于NX平台的槽孔特征识别研究与实现</dc:title>
  <dc:creator>戴齐</dc:creator>
  <cp:lastModifiedBy>yuan gao</cp:lastModifiedBy>
  <cp:revision>783</cp:revision>
  <dcterms:created xsi:type="dcterms:W3CDTF">2019-06-19T02:08:00Z</dcterms:created>
  <dcterms:modified xsi:type="dcterms:W3CDTF">2026-09-03T11:51:50Z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82A99C9093B1441D8958F9234D60217D</vt:lpwstr>
  </property>
</Properties>
</file>